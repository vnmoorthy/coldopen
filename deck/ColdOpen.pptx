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Critic score</c:v>
                </c:pt>
              </c:strCache>
            </c:strRef>
          </c:tx>
          <c:spPr>
            <a:ln w="41275">
              <a:solidFill>
                <a:srgbClr val="FF5B1F"/>
              </a:solidFill>
            </a:ln>
          </c:spPr>
          <c:marker>
            <c:symbol val="circle"/>
            <c:size val="11"/>
            <c:spPr>
              <a:solidFill>
                <a:srgbClr val="FF5B1F"/>
              </a:solidFill>
              <a:ln>
                <a:solidFill>
                  <a:srgbClr val="0A0A0B"/>
                </a:solidFill>
              </a:ln>
            </c:spPr>
          </c:marker>
          <c:dLbls>
            <c:numFmt formatCode="0" sourceLinked="0"/>
            <c:txPr>
              <a:bodyPr/>
              <a:lstStyle/>
              <a:p>
                <a:pPr>
                  <a:defRPr sz="1400" b="1">
                    <a:solidFill>
                      <a:srgbClr val="F4F1EA"/>
                    </a:solidFill>
                    <a:latin typeface="Georgia"/>
                  </a:defRPr>
                </a:pPr>
              </a:p>
            </c:txPr>
            <c:dLblPos val="t"/>
            <c:showLegendKey val="0"/>
            <c:showVal val="1"/>
            <c:showCatName val="0"/>
            <c:showSerName val="0"/>
            <c:showPercent val="0"/>
            <c:showBubbleSize val="0"/>
            <c:showLeaderLines val="1"/>
          </c:dLbls>
          <c:cat>
            <c:strRef>
              <c:f>Sheet1!$A$2:$A$4</c:f>
              <c:strCache>
                <c:ptCount val="3"/>
                <c:pt idx="0">
                  <c:v>v1</c:v>
                </c:pt>
                <c:pt idx="1">
                  <c:v>v2</c:v>
                </c:pt>
                <c:pt idx="2">
                  <c:v>v3</c:v>
                </c:pt>
              </c:strCache>
            </c:strRef>
          </c:cat>
          <c:val>
            <c:numRef>
              <c:f>Sheet1!$B$2:$B$4</c:f>
              <c:numCache>
                <c:formatCode>General</c:formatCode>
                <c:ptCount val="3"/>
                <c:pt idx="0">
                  <c:v>31.0</c:v>
                </c:pt>
                <c:pt idx="1">
                  <c:v>67.0</c:v>
                </c:pt>
                <c:pt idx="2">
                  <c:v>88.0</c:v>
                </c:pt>
              </c:numCache>
            </c:numRef>
          </c:val>
          <c:smooth val="0"/>
        </c:ser>
        <c:ser>
          <c:idx val="1"/>
          <c:order val="1"/>
          <c:tx>
            <c:strRef>
              <c:f>Sheet1!$C$1</c:f>
              <c:strCache>
                <c:ptCount val="1"/>
                <c:pt idx="0">
                  <c:v>Gate</c:v>
                </c:pt>
              </c:strCache>
            </c:strRef>
          </c:tx>
          <c:spPr>
            <a:ln w="19050">
              <a:solidFill>
                <a:srgbClr val="3DDC84"/>
              </a:solidFill>
              <a:prstDash val="dash"/>
            </a:ln>
          </c:spPr>
          <c:marker>
            <c:symbol val="none"/>
          </c:marker>
          <c:cat>
            <c:strRef>
              <c:f>Sheet1!$A$2:$A$4</c:f>
              <c:strCache>
                <c:ptCount val="3"/>
                <c:pt idx="0">
                  <c:v>v1</c:v>
                </c:pt>
                <c:pt idx="1">
                  <c:v>v2</c:v>
                </c:pt>
                <c:pt idx="2">
                  <c:v>v3</c:v>
                </c:pt>
              </c:strCache>
            </c:strRef>
          </c:cat>
          <c:val>
            <c:numRef>
              <c:f>Sheet1!$C$2:$C$4</c:f>
              <c:numCache>
                <c:formatCode>General</c:formatCode>
                <c:ptCount val="3"/>
                <c:pt idx="0">
                  <c:v>85.0</c:v>
                </c:pt>
                <c:pt idx="1">
                  <c:v>85.0</c:v>
                </c:pt>
                <c:pt idx="2">
                  <c:v>85.0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34343A"/>
            </a:solidFill>
          </a:ln>
        </c:spPr>
        <c:txPr>
          <a:bodyPr/>
          <a:lstStyle/>
          <a:p>
            <a:pPr>
              <a:defRPr sz="1100">
                <a:solidFill>
                  <a:srgbClr val="8A877F"/>
                </a:solidFill>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232327"/>
              </a:solidFill>
            </a:ln>
          </c:spPr>
        </c:majorGridlines>
        <c:majorTickMark val="out"/>
        <c:minorTickMark val="none"/>
        <c:tickLblPos val="nextTo"/>
        <c:spPr>
          <a:ln>
            <a:noFill/>
          </a:ln>
        </c:spPr>
        <c:txPr>
          <a:bodyPr/>
          <a:lstStyle/>
          <a:p>
            <a:pPr>
              <a:defRPr sz="1000">
                <a:solidFill>
                  <a:srgbClr val="5E5C57"/>
                </a:solidFill>
              </a:defRPr>
            </a:pPr>
          </a:p>
        </c:txPr>
        <c:crossAx val="2118791784"/>
        <c:crosses val="autoZero"/>
        <c:majorUnit val="25.0"/>
      </c:valAx>
      <c:spPr>
        <a:noFill/>
        <a:ln>
          <a:noFill/>
        </a:ln>
      </c:spPr>
    </c:plotArea>
    <c:plotVisOnly val="1"/>
    <c:dispBlanksAs val="gap"/>
    <c:showDLblsOverMax val="0"/>
  </c:chart>
  <c:spPr>
    <a:noFill/>
    <a:ln>
      <a:noFill/>
    </a:ln>
  </c:spPr>
  <c:txPr>
    <a:bodyPr/>
    <a:lstStyle/>
    <a:p>
      <a:pPr>
        <a:defRPr sz="1100">
          <a:solidFill>
            <a:srgbClr val="8A877F"/>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Moorthy, and this is Cold Open — the agency that does the work before the sale. In eight hours, here at Cloudflare HQ, we built a team of AI agents that walks this block, finds real small businesses, and builds each one a website before anyone asks.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over thirty-six million small businesses in the US. One in six still has no website, and agencies bill a hundred-plus dollars an hour. Worst part: the owner has to say yes, and pay, before seeing a single pixel. The sale comes before the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flipped it. With agents, doing the work first is nearly free — about 5.7 cents of model spend per site today. We build the finished site, then show it to the owner. The work is the pitch. Love it? Claim it for forty-nine dollars. If not, one click removes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Mission Control. On the left, a map of real businesses around 101 Townsend, straight from OpenStreetMap. In the middle, every site the agents built, with its taste score. On the right, the agents talking to each other, live over WebSocket. Our fastest end-to-end build today: 39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agents do the work. Scout finds the business. Archivist reads its real website — colors, voice, what they actually sell. Builder composes the site; Critic tears it apart. Director makes the hero image, Closer writes an honest pitch with a Stripe link. And the CFO watches every 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 is a taste gate: nothing ships under eighty-five. It penalizes AI slop — words like 'elevate' and 'nestled' — and sends notes back to the Builder, which tries again. You can watch it improve: Tres went from 31 to 88 in 3 versions. And it's ready for Taste Labs scoring.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all on Cloudflare. A Worker routes everything to one Durable Object built on the Agents SDK — SQLite state and a WebSocket broadcast. KV stores the media, and the brain is routed automatically: Claude, OpenAI or Workers AI, whichever key is present. Stripe handles checkout with signature-verified webhooks, and a Brainbase managed agent gives every finished site an independent second opinion.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simple: forty-nine dollars to claim your site — live on Stripe today — and a planned nineteen a month to keep it fresh. Each build costs about 5.7 cents in model spend, so after Stripe's fee, one claim pays for roughly 827 sites nobody buys.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today, honestly. We scouted 24 businesses and built 15 sites; 14 passed the taste gate. We contacted 0, 0 replied, and 0 paid — no revenue yet. These are the live numbers from our API, not a projection.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every storefront on Earth gets a Cold Open — the work done before anyone asks. Scan the code, pick any business on the block, and watch the agents build it live. It's open source at github dot com slash vnmoorthy slash coldopen.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640080"/>
            <a:ext cx="73152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STARTUP SPEEDRUN HACKATHON  ·  CLOUDFLARE HQ  ·  SEP 28, 2026</a:t>
            </a:r>
          </a:p>
        </p:txBody>
      </p:sp>
      <p:sp>
        <p:nvSpPr>
          <p:cNvPr id="4" name="TextBox 3"/>
          <p:cNvSpPr txBox="1"/>
          <p:nvPr/>
        </p:nvSpPr>
        <p:spPr>
          <a:xfrm>
            <a:off x="630936" y="1170432"/>
            <a:ext cx="6035040" cy="3383280"/>
          </a:xfrm>
          <a:prstGeom prst="rect">
            <a:avLst/>
          </a:prstGeom>
          <a:noFill/>
        </p:spPr>
        <p:txBody>
          <a:bodyPr wrap="square" lIns="0" rIns="0" tIns="0" bIns="0" anchor="t"/>
          <a:lstStyle/>
          <a:p>
            <a:pPr algn="l">
              <a:lnSpc>
                <a:spcPts val="12400"/>
              </a:lnSpc>
            </a:pPr>
            <a:r>
              <a:rPr sz="13800" b="0" i="0">
                <a:solidFill>
                  <a:srgbClr val="F4F1EA"/>
                </a:solidFill>
                <a:latin typeface="Georgia"/>
                <a:ea typeface="Georgia"/>
                <a:cs typeface="Georgia"/>
              </a:rPr>
              <a:t>Cold</a:t>
            </a:r>
          </a:p>
          <a:p>
            <a:pPr algn="l">
              <a:lnSpc>
                <a:spcPts val="12400"/>
              </a:lnSpc>
            </a:pPr>
            <a:r>
              <a:rPr sz="13800" b="0" i="0">
                <a:solidFill>
                  <a:srgbClr val="F4F1EA"/>
                </a:solidFill>
                <a:latin typeface="Georgia"/>
                <a:ea typeface="Georgia"/>
                <a:cs typeface="Georgia"/>
              </a:rPr>
              <a:t>Open</a:t>
            </a:r>
            <a:r>
              <a:rPr sz="13800" b="0" i="0">
                <a:solidFill>
                  <a:srgbClr val="FF5B1F"/>
                </a:solidFill>
                <a:latin typeface="Georgia"/>
                <a:ea typeface="Georgia"/>
                <a:cs typeface="Georgia"/>
              </a:rPr>
              <a:t>.</a:t>
            </a:r>
          </a:p>
        </p:txBody>
      </p:sp>
      <p:sp>
        <p:nvSpPr>
          <p:cNvPr id="5" name="TextBox 4"/>
          <p:cNvSpPr txBox="1"/>
          <p:nvPr/>
        </p:nvSpPr>
        <p:spPr>
          <a:xfrm>
            <a:off x="685800" y="4526280"/>
            <a:ext cx="5852160" cy="914400"/>
          </a:xfrm>
          <a:prstGeom prst="rect">
            <a:avLst/>
          </a:prstGeom>
          <a:noFill/>
        </p:spPr>
        <p:txBody>
          <a:bodyPr wrap="square" lIns="0" rIns="0" tIns="0" bIns="0" anchor="t"/>
          <a:lstStyle/>
          <a:p>
            <a:pPr algn="l">
              <a:lnSpc>
                <a:spcPct val="105000"/>
              </a:lnSpc>
            </a:pPr>
            <a:r>
              <a:rPr sz="3000" b="0" i="0">
                <a:solidFill>
                  <a:srgbClr val="F4F1EA"/>
                </a:solidFill>
                <a:latin typeface="Georgia"/>
                <a:ea typeface="Georgia"/>
                <a:cs typeface="Georgia"/>
              </a:rPr>
              <a:t>The agency that does the work </a:t>
            </a:r>
            <a:r>
              <a:rPr sz="3000" b="0" i="1">
                <a:solidFill>
                  <a:srgbClr val="FF5B1F"/>
                </a:solidFill>
                <a:latin typeface="Georgia"/>
                <a:ea typeface="Georgia"/>
                <a:cs typeface="Georgia"/>
              </a:rPr>
              <a:t>before</a:t>
            </a:r>
            <a:r>
              <a:rPr sz="3000" b="0" i="0">
                <a:solidFill>
                  <a:srgbClr val="F4F1EA"/>
                </a:solidFill>
                <a:latin typeface="Georgia"/>
                <a:ea typeface="Georgia"/>
                <a:cs typeface="Georgia"/>
              </a:rPr>
              <a:t> the sale.</a:t>
            </a:r>
          </a:p>
        </p:txBody>
      </p:sp>
      <p:sp>
        <p:nvSpPr>
          <p:cNvPr id="6" name="TextBox 5"/>
          <p:cNvSpPr txBox="1"/>
          <p:nvPr/>
        </p:nvSpPr>
        <p:spPr>
          <a:xfrm>
            <a:off x="685800" y="5669280"/>
            <a:ext cx="5852160" cy="548640"/>
          </a:xfrm>
          <a:prstGeom prst="rect">
            <a:avLst/>
          </a:prstGeom>
          <a:noFill/>
        </p:spPr>
        <p:txBody>
          <a:bodyPr wrap="square" lIns="0" rIns="0" tIns="0" bIns="0" anchor="t"/>
          <a:lstStyle/>
          <a:p>
            <a:pPr algn="l">
              <a:lnSpc>
                <a:spcPct val="115000"/>
              </a:lnSpc>
            </a:pPr>
            <a:r>
              <a:rPr sz="1250" b="0" i="0">
                <a:solidFill>
                  <a:srgbClr val="8A877F"/>
                </a:solidFill>
                <a:latin typeface="Arial"/>
                <a:ea typeface="Arial"/>
                <a:cs typeface="Arial"/>
              </a:rPr>
              <a:t>Autonomous agents scout real storefronts, build each one a site, gate it on taste,</a:t>
            </a:r>
          </a:p>
          <a:p>
            <a:pPr algn="l">
              <a:lnSpc>
                <a:spcPct val="115000"/>
              </a:lnSpc>
            </a:pPr>
            <a:r>
              <a:rPr sz="1250" b="0" i="0">
                <a:solidFill>
                  <a:srgbClr val="8A877F"/>
                </a:solidFill>
                <a:latin typeface="Arial"/>
                <a:ea typeface="Arial"/>
                <a:cs typeface="Arial"/>
              </a:rPr>
              <a:t>and attach a checkout — built in 8 hours at 101 Townsend St, San Francisco.</a:t>
            </a:r>
          </a:p>
        </p:txBody>
      </p:sp>
      <p:sp>
        <p:nvSpPr>
          <p:cNvPr id="7" name="Oval 6"/>
          <p:cNvSpPr/>
          <p:nvPr/>
        </p:nvSpPr>
        <p:spPr>
          <a:xfrm>
            <a:off x="6766559" y="1069848"/>
            <a:ext cx="4663440" cy="4663440"/>
          </a:xfrm>
          <a:prstGeom prst="ellipse">
            <a:avLst/>
          </a:prstGeom>
          <a:noFill/>
          <a:ln w="9525">
            <a:solidFill>
              <a:srgbClr val="3A3A40"/>
            </a:solidFill>
          </a:ln>
        </p:spPr>
        <p:txBody>
          <a:bodyPr rtlCol="0" anchor="ctr"/>
          <a:lstStyle/>
          <a:p/>
        </p:txBody>
      </p:sp>
      <p:sp>
        <p:nvSpPr>
          <p:cNvPr id="8" name="Oval 7"/>
          <p:cNvSpPr/>
          <p:nvPr/>
        </p:nvSpPr>
        <p:spPr>
          <a:xfrm>
            <a:off x="7543800" y="1847088"/>
            <a:ext cx="3108959" cy="3108959"/>
          </a:xfrm>
          <a:prstGeom prst="ellipse">
            <a:avLst/>
          </a:prstGeom>
          <a:noFill/>
          <a:ln w="9525">
            <a:solidFill>
              <a:srgbClr val="34343A"/>
            </a:solidFill>
            <a:prstDash val="dash"/>
          </a:ln>
        </p:spPr>
        <p:txBody>
          <a:bodyPr rtlCol="0" anchor="ctr"/>
          <a:lstStyle/>
          <a:p/>
        </p:txBody>
      </p:sp>
      <p:sp>
        <p:nvSpPr>
          <p:cNvPr id="9" name="Oval 8"/>
          <p:cNvSpPr/>
          <p:nvPr/>
        </p:nvSpPr>
        <p:spPr>
          <a:xfrm>
            <a:off x="8321040" y="2624328"/>
            <a:ext cx="1554479" cy="1554479"/>
          </a:xfrm>
          <a:prstGeom prst="ellipse">
            <a:avLst/>
          </a:prstGeom>
          <a:noFill/>
          <a:ln w="9525">
            <a:solidFill>
              <a:srgbClr val="34343A"/>
            </a:solidFill>
            <a:prstDash val="dash"/>
          </a:ln>
        </p:spPr>
        <p:txBody>
          <a:bodyPr rtlCol="0" anchor="ctr"/>
          <a:lstStyle/>
          <a:p/>
        </p:txBody>
      </p:sp>
      <p:cxnSp>
        <p:nvCxnSpPr>
          <p:cNvPr id="10" name="Connector 9"/>
          <p:cNvCxnSpPr/>
          <p:nvPr/>
        </p:nvCxnSpPr>
        <p:spPr>
          <a:xfrm>
            <a:off x="6537959" y="3401568"/>
            <a:ext cx="5120641" cy="0"/>
          </a:xfrm>
          <a:prstGeom prst="line">
            <a:avLst/>
          </a:prstGeom>
          <a:ln w="6350">
            <a:solidFill>
              <a:srgbClr val="232327"/>
            </a:solidFill>
          </a:ln>
        </p:spPr>
      </p:cxnSp>
      <p:cxnSp>
        <p:nvCxnSpPr>
          <p:cNvPr id="11" name="Connector 10"/>
          <p:cNvCxnSpPr/>
          <p:nvPr/>
        </p:nvCxnSpPr>
        <p:spPr>
          <a:xfrm>
            <a:off x="9098280" y="841248"/>
            <a:ext cx="0" cy="5120640"/>
          </a:xfrm>
          <a:prstGeom prst="line">
            <a:avLst/>
          </a:prstGeom>
          <a:ln w="6350">
            <a:solidFill>
              <a:srgbClr val="232327"/>
            </a:solidFill>
          </a:ln>
        </p:spPr>
      </p:cxnSp>
      <p:sp>
        <p:nvSpPr>
          <p:cNvPr id="12" name="TextBox 11"/>
          <p:cNvSpPr txBox="1"/>
          <p:nvPr/>
        </p:nvSpPr>
        <p:spPr>
          <a:xfrm>
            <a:off x="10808665" y="1490014"/>
            <a:ext cx="1097280" cy="228600"/>
          </a:xfrm>
          <a:prstGeom prst="rect">
            <a:avLst/>
          </a:prstGeom>
          <a:noFill/>
        </p:spPr>
        <p:txBody>
          <a:bodyPr wrap="square" lIns="0" rIns="0" tIns="0" bIns="0" anchor="t"/>
          <a:lstStyle/>
          <a:p>
            <a:pPr algn="l"/>
            <a:r>
              <a:rPr sz="900" b="0" i="0" spc="150">
                <a:solidFill>
                  <a:srgbClr val="5E5C57"/>
                </a:solidFill>
                <a:latin typeface="Arial"/>
                <a:ea typeface="Arial"/>
                <a:cs typeface="Arial"/>
              </a:rPr>
              <a:t>450 m</a:t>
            </a:r>
          </a:p>
        </p:txBody>
      </p:sp>
      <p:sp>
        <p:nvSpPr>
          <p:cNvPr id="13" name="TextBox 12"/>
          <p:cNvSpPr txBox="1"/>
          <p:nvPr/>
        </p:nvSpPr>
        <p:spPr>
          <a:xfrm>
            <a:off x="9699465" y="2635790"/>
            <a:ext cx="1097280" cy="228600"/>
          </a:xfrm>
          <a:prstGeom prst="rect">
            <a:avLst/>
          </a:prstGeom>
          <a:noFill/>
        </p:spPr>
        <p:txBody>
          <a:bodyPr wrap="square" lIns="0" rIns="0" tIns="0" bIns="0" anchor="t"/>
          <a:lstStyle/>
          <a:p>
            <a:pPr algn="l"/>
            <a:r>
              <a:rPr sz="900" b="0" i="0" spc="150">
                <a:solidFill>
                  <a:srgbClr val="5E5C57"/>
                </a:solidFill>
                <a:latin typeface="Arial"/>
                <a:ea typeface="Arial"/>
                <a:cs typeface="Arial"/>
              </a:rPr>
              <a:t>150 m</a:t>
            </a:r>
          </a:p>
        </p:txBody>
      </p:sp>
      <p:sp>
        <p:nvSpPr>
          <p:cNvPr id="14" name="Oval 13"/>
          <p:cNvSpPr/>
          <p:nvPr/>
        </p:nvSpPr>
        <p:spPr>
          <a:xfrm>
            <a:off x="8494974" y="2864303"/>
            <a:ext cx="100584" cy="100584"/>
          </a:xfrm>
          <a:prstGeom prst="ellipse">
            <a:avLst/>
          </a:prstGeom>
          <a:solidFill>
            <a:srgbClr val="F4F1EA"/>
          </a:solidFill>
          <a:ln>
            <a:noFill/>
          </a:ln>
        </p:spPr>
        <p:txBody>
          <a:bodyPr rtlCol="0" anchor="ctr"/>
          <a:lstStyle/>
          <a:p/>
        </p:txBody>
      </p:sp>
      <p:sp>
        <p:nvSpPr>
          <p:cNvPr id="15" name="Oval 14"/>
          <p:cNvSpPr/>
          <p:nvPr/>
        </p:nvSpPr>
        <p:spPr>
          <a:xfrm>
            <a:off x="8691378" y="2596818"/>
            <a:ext cx="100584" cy="100584"/>
          </a:xfrm>
          <a:prstGeom prst="ellipse">
            <a:avLst/>
          </a:prstGeom>
          <a:solidFill>
            <a:srgbClr val="F4F1EA"/>
          </a:solidFill>
          <a:ln>
            <a:noFill/>
          </a:ln>
        </p:spPr>
        <p:txBody>
          <a:bodyPr rtlCol="0" anchor="ctr"/>
          <a:lstStyle/>
          <a:p/>
        </p:txBody>
      </p:sp>
      <p:sp>
        <p:nvSpPr>
          <p:cNvPr id="16" name="Oval 15"/>
          <p:cNvSpPr/>
          <p:nvPr/>
        </p:nvSpPr>
        <p:spPr>
          <a:xfrm>
            <a:off x="8251885" y="3755883"/>
            <a:ext cx="100584" cy="100584"/>
          </a:xfrm>
          <a:prstGeom prst="ellipse">
            <a:avLst/>
          </a:prstGeom>
          <a:solidFill>
            <a:srgbClr val="F4F1EA"/>
          </a:solidFill>
          <a:ln>
            <a:noFill/>
          </a:ln>
        </p:spPr>
        <p:txBody>
          <a:bodyPr rtlCol="0" anchor="ctr"/>
          <a:lstStyle/>
          <a:p/>
        </p:txBody>
      </p:sp>
      <p:sp>
        <p:nvSpPr>
          <p:cNvPr id="17" name="Oval 16"/>
          <p:cNvSpPr/>
          <p:nvPr/>
        </p:nvSpPr>
        <p:spPr>
          <a:xfrm>
            <a:off x="8121815" y="3248062"/>
            <a:ext cx="100584" cy="100584"/>
          </a:xfrm>
          <a:prstGeom prst="ellipse">
            <a:avLst/>
          </a:prstGeom>
          <a:solidFill>
            <a:srgbClr val="F4F1EA"/>
          </a:solidFill>
          <a:ln>
            <a:noFill/>
          </a:ln>
        </p:spPr>
        <p:txBody>
          <a:bodyPr rtlCol="0" anchor="ctr"/>
          <a:lstStyle/>
          <a:p/>
        </p:txBody>
      </p:sp>
      <p:sp>
        <p:nvSpPr>
          <p:cNvPr id="18" name="Oval 17"/>
          <p:cNvSpPr/>
          <p:nvPr/>
        </p:nvSpPr>
        <p:spPr>
          <a:xfrm>
            <a:off x="8485400" y="2322631"/>
            <a:ext cx="100584" cy="100584"/>
          </a:xfrm>
          <a:prstGeom prst="ellipse">
            <a:avLst/>
          </a:prstGeom>
          <a:solidFill>
            <a:srgbClr val="F4F1EA"/>
          </a:solidFill>
          <a:ln>
            <a:noFill/>
          </a:ln>
        </p:spPr>
        <p:txBody>
          <a:bodyPr rtlCol="0" anchor="ctr"/>
          <a:lstStyle/>
          <a:p/>
        </p:txBody>
      </p:sp>
      <p:sp>
        <p:nvSpPr>
          <p:cNvPr id="19" name="Oval 18"/>
          <p:cNvSpPr/>
          <p:nvPr/>
        </p:nvSpPr>
        <p:spPr>
          <a:xfrm>
            <a:off x="7822551" y="3449132"/>
            <a:ext cx="73152" cy="73152"/>
          </a:xfrm>
          <a:prstGeom prst="ellipse">
            <a:avLst/>
          </a:prstGeom>
          <a:solidFill>
            <a:srgbClr val="8A877F"/>
          </a:solidFill>
          <a:ln>
            <a:noFill/>
          </a:ln>
        </p:spPr>
        <p:txBody>
          <a:bodyPr rtlCol="0" anchor="ctr"/>
          <a:lstStyle/>
          <a:p/>
        </p:txBody>
      </p:sp>
      <p:sp>
        <p:nvSpPr>
          <p:cNvPr id="20" name="Oval 19"/>
          <p:cNvSpPr/>
          <p:nvPr/>
        </p:nvSpPr>
        <p:spPr>
          <a:xfrm>
            <a:off x="7761284" y="3391542"/>
            <a:ext cx="100584" cy="100584"/>
          </a:xfrm>
          <a:prstGeom prst="ellipse">
            <a:avLst/>
          </a:prstGeom>
          <a:solidFill>
            <a:srgbClr val="F4F1EA"/>
          </a:solidFill>
          <a:ln>
            <a:noFill/>
          </a:ln>
        </p:spPr>
        <p:txBody>
          <a:bodyPr rtlCol="0" anchor="ctr"/>
          <a:lstStyle/>
          <a:p/>
        </p:txBody>
      </p:sp>
      <p:sp>
        <p:nvSpPr>
          <p:cNvPr id="21" name="Oval 20"/>
          <p:cNvSpPr/>
          <p:nvPr/>
        </p:nvSpPr>
        <p:spPr>
          <a:xfrm>
            <a:off x="8110144" y="2438904"/>
            <a:ext cx="100584" cy="100584"/>
          </a:xfrm>
          <a:prstGeom prst="ellipse">
            <a:avLst/>
          </a:prstGeom>
          <a:solidFill>
            <a:srgbClr val="F4F1EA"/>
          </a:solidFill>
          <a:ln>
            <a:noFill/>
          </a:ln>
        </p:spPr>
        <p:txBody>
          <a:bodyPr rtlCol="0" anchor="ctr"/>
          <a:lstStyle/>
          <a:p/>
        </p:txBody>
      </p:sp>
      <p:sp>
        <p:nvSpPr>
          <p:cNvPr id="22" name="Oval 21"/>
          <p:cNvSpPr/>
          <p:nvPr/>
        </p:nvSpPr>
        <p:spPr>
          <a:xfrm>
            <a:off x="7647627" y="3250925"/>
            <a:ext cx="100584" cy="100584"/>
          </a:xfrm>
          <a:prstGeom prst="ellipse">
            <a:avLst/>
          </a:prstGeom>
          <a:solidFill>
            <a:srgbClr val="F4F1EA"/>
          </a:solidFill>
          <a:ln>
            <a:noFill/>
          </a:ln>
        </p:spPr>
        <p:txBody>
          <a:bodyPr rtlCol="0" anchor="ctr"/>
          <a:lstStyle/>
          <a:p/>
        </p:txBody>
      </p:sp>
      <p:sp>
        <p:nvSpPr>
          <p:cNvPr id="23" name="Oval 22"/>
          <p:cNvSpPr/>
          <p:nvPr/>
        </p:nvSpPr>
        <p:spPr>
          <a:xfrm>
            <a:off x="7369342" y="2982352"/>
            <a:ext cx="100584" cy="100584"/>
          </a:xfrm>
          <a:prstGeom prst="ellipse">
            <a:avLst/>
          </a:prstGeom>
          <a:solidFill>
            <a:srgbClr val="F4F1EA"/>
          </a:solidFill>
          <a:ln>
            <a:noFill/>
          </a:ln>
        </p:spPr>
        <p:txBody>
          <a:bodyPr rtlCol="0" anchor="ctr"/>
          <a:lstStyle/>
          <a:p/>
        </p:txBody>
      </p:sp>
      <p:sp>
        <p:nvSpPr>
          <p:cNvPr id="24" name="Oval 23"/>
          <p:cNvSpPr/>
          <p:nvPr/>
        </p:nvSpPr>
        <p:spPr>
          <a:xfrm>
            <a:off x="7968585" y="1804213"/>
            <a:ext cx="100584" cy="100584"/>
          </a:xfrm>
          <a:prstGeom prst="ellipse">
            <a:avLst/>
          </a:prstGeom>
          <a:solidFill>
            <a:srgbClr val="F4F1EA"/>
          </a:solidFill>
          <a:ln>
            <a:noFill/>
          </a:ln>
        </p:spPr>
        <p:txBody>
          <a:bodyPr rtlCol="0" anchor="ctr"/>
          <a:lstStyle/>
          <a:p/>
        </p:txBody>
      </p:sp>
      <p:sp>
        <p:nvSpPr>
          <p:cNvPr id="25" name="Oval 24"/>
          <p:cNvSpPr/>
          <p:nvPr/>
        </p:nvSpPr>
        <p:spPr>
          <a:xfrm>
            <a:off x="9788509" y="1550157"/>
            <a:ext cx="73152" cy="73152"/>
          </a:xfrm>
          <a:prstGeom prst="ellipse">
            <a:avLst/>
          </a:prstGeom>
          <a:solidFill>
            <a:srgbClr val="8A877F"/>
          </a:solidFill>
          <a:ln>
            <a:noFill/>
          </a:ln>
        </p:spPr>
        <p:txBody>
          <a:bodyPr rtlCol="0" anchor="ctr"/>
          <a:lstStyle/>
          <a:p/>
        </p:txBody>
      </p:sp>
      <p:sp>
        <p:nvSpPr>
          <p:cNvPr id="26" name="Oval 25"/>
          <p:cNvSpPr/>
          <p:nvPr/>
        </p:nvSpPr>
        <p:spPr>
          <a:xfrm>
            <a:off x="7045232" y="3542036"/>
            <a:ext cx="73152" cy="73152"/>
          </a:xfrm>
          <a:prstGeom prst="ellipse">
            <a:avLst/>
          </a:prstGeom>
          <a:solidFill>
            <a:srgbClr val="8A877F"/>
          </a:solidFill>
          <a:ln>
            <a:noFill/>
          </a:ln>
        </p:spPr>
        <p:txBody>
          <a:bodyPr rtlCol="0" anchor="ctr"/>
          <a:lstStyle/>
          <a:p/>
        </p:txBody>
      </p:sp>
      <p:sp>
        <p:nvSpPr>
          <p:cNvPr id="27" name="Oval 26"/>
          <p:cNvSpPr/>
          <p:nvPr/>
        </p:nvSpPr>
        <p:spPr>
          <a:xfrm>
            <a:off x="7349321" y="4437225"/>
            <a:ext cx="73152" cy="73152"/>
          </a:xfrm>
          <a:prstGeom prst="ellipse">
            <a:avLst/>
          </a:prstGeom>
          <a:solidFill>
            <a:srgbClr val="8A877F"/>
          </a:solidFill>
          <a:ln>
            <a:noFill/>
          </a:ln>
        </p:spPr>
        <p:txBody>
          <a:bodyPr rtlCol="0" anchor="ctr"/>
          <a:lstStyle/>
          <a:p/>
        </p:txBody>
      </p:sp>
      <p:sp>
        <p:nvSpPr>
          <p:cNvPr id="28" name="Oval 27"/>
          <p:cNvSpPr/>
          <p:nvPr/>
        </p:nvSpPr>
        <p:spPr>
          <a:xfrm>
            <a:off x="9365526" y="5396537"/>
            <a:ext cx="100584" cy="100584"/>
          </a:xfrm>
          <a:prstGeom prst="ellipse">
            <a:avLst/>
          </a:prstGeom>
          <a:solidFill>
            <a:srgbClr val="F4F1EA"/>
          </a:solidFill>
          <a:ln>
            <a:noFill/>
          </a:ln>
        </p:spPr>
        <p:txBody>
          <a:bodyPr rtlCol="0" anchor="ctr"/>
          <a:lstStyle/>
          <a:p/>
        </p:txBody>
      </p:sp>
      <p:sp>
        <p:nvSpPr>
          <p:cNvPr id="29" name="Oval 28"/>
          <p:cNvSpPr/>
          <p:nvPr/>
        </p:nvSpPr>
        <p:spPr>
          <a:xfrm>
            <a:off x="6985964" y="3595304"/>
            <a:ext cx="73152" cy="73152"/>
          </a:xfrm>
          <a:prstGeom prst="ellipse">
            <a:avLst/>
          </a:prstGeom>
          <a:solidFill>
            <a:srgbClr val="8A877F"/>
          </a:solidFill>
          <a:ln>
            <a:noFill/>
          </a:ln>
        </p:spPr>
        <p:txBody>
          <a:bodyPr rtlCol="0" anchor="ctr"/>
          <a:lstStyle/>
          <a:p/>
        </p:txBody>
      </p:sp>
      <p:sp>
        <p:nvSpPr>
          <p:cNvPr id="30" name="Oval 29"/>
          <p:cNvSpPr/>
          <p:nvPr/>
        </p:nvSpPr>
        <p:spPr>
          <a:xfrm>
            <a:off x="6950821" y="3601234"/>
            <a:ext cx="100584" cy="100584"/>
          </a:xfrm>
          <a:prstGeom prst="ellipse">
            <a:avLst/>
          </a:prstGeom>
          <a:solidFill>
            <a:srgbClr val="F4F1EA"/>
          </a:solidFill>
          <a:ln>
            <a:noFill/>
          </a:ln>
        </p:spPr>
        <p:txBody>
          <a:bodyPr rtlCol="0" anchor="ctr"/>
          <a:lstStyle/>
          <a:p/>
        </p:txBody>
      </p:sp>
      <p:sp>
        <p:nvSpPr>
          <p:cNvPr id="31" name="Oval 30"/>
          <p:cNvSpPr/>
          <p:nvPr/>
        </p:nvSpPr>
        <p:spPr>
          <a:xfrm>
            <a:off x="6946300" y="3633852"/>
            <a:ext cx="73152" cy="73152"/>
          </a:xfrm>
          <a:prstGeom prst="ellipse">
            <a:avLst/>
          </a:prstGeom>
          <a:solidFill>
            <a:srgbClr val="8A877F"/>
          </a:solidFill>
          <a:ln>
            <a:noFill/>
          </a:ln>
        </p:spPr>
        <p:txBody>
          <a:bodyPr rtlCol="0" anchor="ctr"/>
          <a:lstStyle/>
          <a:p/>
        </p:txBody>
      </p:sp>
      <p:sp>
        <p:nvSpPr>
          <p:cNvPr id="32" name="Oval 31"/>
          <p:cNvSpPr/>
          <p:nvPr/>
        </p:nvSpPr>
        <p:spPr>
          <a:xfrm>
            <a:off x="6862238" y="3158881"/>
            <a:ext cx="100584" cy="100584"/>
          </a:xfrm>
          <a:prstGeom prst="ellipse">
            <a:avLst/>
          </a:prstGeom>
          <a:solidFill>
            <a:srgbClr val="F4F1EA"/>
          </a:solidFill>
          <a:ln>
            <a:noFill/>
          </a:ln>
        </p:spPr>
        <p:txBody>
          <a:bodyPr rtlCol="0" anchor="ctr"/>
          <a:lstStyle/>
          <a:p/>
        </p:txBody>
      </p:sp>
      <p:sp>
        <p:nvSpPr>
          <p:cNvPr id="33" name="Oval 32"/>
          <p:cNvSpPr/>
          <p:nvPr/>
        </p:nvSpPr>
        <p:spPr>
          <a:xfrm>
            <a:off x="9296411" y="1112015"/>
            <a:ext cx="100584" cy="100584"/>
          </a:xfrm>
          <a:prstGeom prst="ellipse">
            <a:avLst/>
          </a:prstGeom>
          <a:solidFill>
            <a:srgbClr val="F4F1EA"/>
          </a:solidFill>
          <a:ln>
            <a:noFill/>
          </a:ln>
        </p:spPr>
        <p:txBody>
          <a:bodyPr rtlCol="0" anchor="ctr"/>
          <a:lstStyle/>
          <a:p/>
        </p:txBody>
      </p:sp>
      <p:sp>
        <p:nvSpPr>
          <p:cNvPr id="34" name="Oval 33"/>
          <p:cNvSpPr/>
          <p:nvPr/>
        </p:nvSpPr>
        <p:spPr>
          <a:xfrm>
            <a:off x="6758155" y="3449220"/>
            <a:ext cx="100584" cy="100584"/>
          </a:xfrm>
          <a:prstGeom prst="ellipse">
            <a:avLst/>
          </a:prstGeom>
          <a:solidFill>
            <a:srgbClr val="F4F1EA"/>
          </a:solidFill>
          <a:ln>
            <a:noFill/>
          </a:ln>
        </p:spPr>
        <p:txBody>
          <a:bodyPr rtlCol="0" anchor="ctr"/>
          <a:lstStyle/>
          <a:p/>
        </p:txBody>
      </p:sp>
      <p:sp>
        <p:nvSpPr>
          <p:cNvPr id="35" name="Oval 34"/>
          <p:cNvSpPr/>
          <p:nvPr/>
        </p:nvSpPr>
        <p:spPr>
          <a:xfrm>
            <a:off x="8368453" y="2994579"/>
            <a:ext cx="73152" cy="73152"/>
          </a:xfrm>
          <a:prstGeom prst="ellipse">
            <a:avLst/>
          </a:prstGeom>
          <a:solidFill>
            <a:srgbClr val="8A877F"/>
          </a:solidFill>
          <a:ln>
            <a:noFill/>
          </a:ln>
        </p:spPr>
        <p:txBody>
          <a:bodyPr rtlCol="0" anchor="ctr"/>
          <a:lstStyle/>
          <a:p/>
        </p:txBody>
      </p:sp>
      <p:sp>
        <p:nvSpPr>
          <p:cNvPr id="36" name="Oval 35"/>
          <p:cNvSpPr/>
          <p:nvPr/>
        </p:nvSpPr>
        <p:spPr>
          <a:xfrm>
            <a:off x="8020643" y="2796628"/>
            <a:ext cx="73152" cy="73152"/>
          </a:xfrm>
          <a:prstGeom prst="ellipse">
            <a:avLst/>
          </a:prstGeom>
          <a:solidFill>
            <a:srgbClr val="8A877F"/>
          </a:solidFill>
          <a:ln>
            <a:noFill/>
          </a:ln>
        </p:spPr>
        <p:txBody>
          <a:bodyPr rtlCol="0" anchor="ctr"/>
          <a:lstStyle/>
          <a:p/>
        </p:txBody>
      </p:sp>
      <p:sp>
        <p:nvSpPr>
          <p:cNvPr id="37" name="Oval 36"/>
          <p:cNvSpPr/>
          <p:nvPr/>
        </p:nvSpPr>
        <p:spPr>
          <a:xfrm>
            <a:off x="7876348" y="3495068"/>
            <a:ext cx="73152" cy="73152"/>
          </a:xfrm>
          <a:prstGeom prst="ellipse">
            <a:avLst/>
          </a:prstGeom>
          <a:solidFill>
            <a:srgbClr val="8A877F"/>
          </a:solidFill>
          <a:ln>
            <a:noFill/>
          </a:ln>
        </p:spPr>
        <p:txBody>
          <a:bodyPr rtlCol="0" anchor="ctr"/>
          <a:lstStyle/>
          <a:p/>
        </p:txBody>
      </p:sp>
      <p:sp>
        <p:nvSpPr>
          <p:cNvPr id="38" name="Oval 37"/>
          <p:cNvSpPr/>
          <p:nvPr/>
        </p:nvSpPr>
        <p:spPr>
          <a:xfrm>
            <a:off x="8897111" y="3200400"/>
            <a:ext cx="402336" cy="402336"/>
          </a:xfrm>
          <a:prstGeom prst="ellipse">
            <a:avLst/>
          </a:prstGeom>
          <a:solidFill>
            <a:srgbClr val="FF5B1F">
              <a:alpha val="18000"/>
            </a:srgbClr>
          </a:solidFill>
          <a:ln>
            <a:noFill/>
          </a:ln>
        </p:spPr>
        <p:txBody>
          <a:bodyPr rtlCol="0" anchor="ctr"/>
          <a:lstStyle/>
          <a:p/>
        </p:txBody>
      </p:sp>
      <p:sp>
        <p:nvSpPr>
          <p:cNvPr id="39" name="Oval 38"/>
          <p:cNvSpPr/>
          <p:nvPr/>
        </p:nvSpPr>
        <p:spPr>
          <a:xfrm>
            <a:off x="9020555" y="3323844"/>
            <a:ext cx="155448" cy="155448"/>
          </a:xfrm>
          <a:prstGeom prst="ellipse">
            <a:avLst/>
          </a:prstGeom>
          <a:solidFill>
            <a:srgbClr val="FF5B1F"/>
          </a:solidFill>
          <a:ln>
            <a:noFill/>
          </a:ln>
        </p:spPr>
        <p:txBody>
          <a:bodyPr rtlCol="0" anchor="ctr"/>
          <a:lstStyle/>
          <a:p/>
        </p:txBody>
      </p:sp>
      <p:sp>
        <p:nvSpPr>
          <p:cNvPr id="40" name="TextBox 39"/>
          <p:cNvSpPr txBox="1"/>
          <p:nvPr/>
        </p:nvSpPr>
        <p:spPr>
          <a:xfrm>
            <a:off x="9281159" y="3511296"/>
            <a:ext cx="2011680" cy="274320"/>
          </a:xfrm>
          <a:prstGeom prst="rect">
            <a:avLst/>
          </a:prstGeom>
          <a:noFill/>
        </p:spPr>
        <p:txBody>
          <a:bodyPr wrap="square" lIns="0" rIns="0" tIns="0" bIns="0" anchor="t"/>
          <a:lstStyle/>
          <a:p>
            <a:pPr algn="l"/>
            <a:r>
              <a:rPr sz="900" b="1" i="0" spc="200">
                <a:solidFill>
                  <a:srgbClr val="FF5B1F"/>
                </a:solidFill>
                <a:latin typeface="Arial"/>
                <a:ea typeface="Arial"/>
                <a:cs typeface="Arial"/>
              </a:rPr>
              <a:t>CLOUDFLARE HQ</a:t>
            </a:r>
          </a:p>
        </p:txBody>
      </p:sp>
      <p:sp>
        <p:nvSpPr>
          <p:cNvPr id="41" name="TextBox 40"/>
          <p:cNvSpPr txBox="1"/>
          <p:nvPr/>
        </p:nvSpPr>
        <p:spPr>
          <a:xfrm>
            <a:off x="6766559" y="6025896"/>
            <a:ext cx="4663440" cy="274320"/>
          </a:xfrm>
          <a:prstGeom prst="rect">
            <a:avLst/>
          </a:prstGeom>
          <a:noFill/>
        </p:spPr>
        <p:txBody>
          <a:bodyPr wrap="square" lIns="0" rIns="0" tIns="0" bIns="0" anchor="t"/>
          <a:lstStyle/>
          <a:p>
            <a:pPr algn="ctr"/>
            <a:r>
              <a:rPr sz="1000" b="0" i="0">
                <a:solidFill>
                  <a:srgbClr val="8A877F"/>
                </a:solidFill>
                <a:latin typeface="Arial"/>
                <a:ea typeface="Arial"/>
                <a:cs typeface="Arial"/>
              </a:rPr>
              <a:t>24 real businesses scouted from OpenStreetMap · live</a:t>
            </a:r>
          </a:p>
        </p:txBody>
      </p:sp>
      <p:sp>
        <p:nvSpPr>
          <p:cNvPr id="42" name="TextBox 41"/>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43" name="TextBox 42"/>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THE PROBLEM</a:t>
            </a:r>
          </a:p>
        </p:txBody>
      </p:sp>
      <p:sp>
        <p:nvSpPr>
          <p:cNvPr id="4" name="TextBox 3"/>
          <p:cNvSpPr txBox="1"/>
          <p:nvPr/>
        </p:nvSpPr>
        <p:spPr>
          <a:xfrm>
            <a:off x="685800" y="896112"/>
            <a:ext cx="10820095" cy="914400"/>
          </a:xfrm>
          <a:prstGeom prst="rect">
            <a:avLst/>
          </a:prstGeom>
          <a:noFill/>
        </p:spPr>
        <p:txBody>
          <a:bodyPr wrap="square" lIns="0" rIns="0" tIns="0" bIns="0" anchor="t"/>
          <a:lstStyle/>
          <a:p>
            <a:pPr algn="l">
              <a:lnSpc>
                <a:spcPct val="95000"/>
              </a:lnSpc>
            </a:pPr>
            <a:r>
              <a:rPr sz="5200" b="0" i="0">
                <a:solidFill>
                  <a:srgbClr val="F4F1EA"/>
                </a:solidFill>
                <a:latin typeface="Georgia"/>
                <a:ea typeface="Georgia"/>
                <a:cs typeface="Georgia"/>
              </a:rPr>
              <a:t>The sale comes </a:t>
            </a:r>
            <a:r>
              <a:rPr sz="5200" b="0" i="1">
                <a:solidFill>
                  <a:srgbClr val="FF5B1F"/>
                </a:solidFill>
                <a:latin typeface="Georgia"/>
                <a:ea typeface="Georgia"/>
                <a:cs typeface="Georgia"/>
              </a:rPr>
              <a:t>before</a:t>
            </a:r>
            <a:r>
              <a:rPr sz="5200" b="0" i="0">
                <a:solidFill>
                  <a:srgbClr val="F4F1EA"/>
                </a:solidFill>
                <a:latin typeface="Georgia"/>
                <a:ea typeface="Georgia"/>
                <a:cs typeface="Georgia"/>
              </a:rPr>
              <a:t> the work.</a:t>
            </a:r>
          </a:p>
        </p:txBody>
      </p:sp>
      <p:sp>
        <p:nvSpPr>
          <p:cNvPr id="5" name="Rounded Rectangle 4"/>
          <p:cNvSpPr/>
          <p:nvPr/>
        </p:nvSpPr>
        <p:spPr>
          <a:xfrm>
            <a:off x="685800" y="2103120"/>
            <a:ext cx="3362858" cy="2560320"/>
          </a:xfrm>
          <a:prstGeom prst="roundRect">
            <a:avLst>
              <a:gd name="adj" fmla="val 4285"/>
            </a:avLst>
          </a:prstGeom>
          <a:solidFill>
            <a:srgbClr val="121214"/>
          </a:solidFill>
          <a:ln w="9525">
            <a:solidFill>
              <a:srgbClr val="232327"/>
            </a:solidFill>
          </a:ln>
        </p:spPr>
        <p:txBody>
          <a:bodyPr rtlCol="0" anchor="ctr"/>
          <a:lstStyle/>
          <a:p/>
        </p:txBody>
      </p:sp>
      <p:sp>
        <p:nvSpPr>
          <p:cNvPr id="6" name="TextBox 5"/>
          <p:cNvSpPr txBox="1"/>
          <p:nvPr/>
        </p:nvSpPr>
        <p:spPr>
          <a:xfrm>
            <a:off x="1005840" y="2304288"/>
            <a:ext cx="2814218" cy="1005840"/>
          </a:xfrm>
          <a:prstGeom prst="rect">
            <a:avLst/>
          </a:prstGeom>
          <a:noFill/>
        </p:spPr>
        <p:txBody>
          <a:bodyPr wrap="square" lIns="0" rIns="0" tIns="0" bIns="0" anchor="t"/>
          <a:lstStyle/>
          <a:p>
            <a:pPr algn="l"/>
            <a:r>
              <a:rPr sz="7200" b="0" i="0">
                <a:solidFill>
                  <a:srgbClr val="F4F1EA"/>
                </a:solidFill>
                <a:latin typeface="Georgia"/>
                <a:ea typeface="Georgia"/>
                <a:cs typeface="Georgia"/>
              </a:rPr>
              <a:t>36.2M</a:t>
            </a:r>
          </a:p>
        </p:txBody>
      </p:sp>
      <p:sp>
        <p:nvSpPr>
          <p:cNvPr id="7" name="TextBox 6"/>
          <p:cNvSpPr txBox="1"/>
          <p:nvPr/>
        </p:nvSpPr>
        <p:spPr>
          <a:xfrm>
            <a:off x="1005840" y="3346704"/>
            <a:ext cx="2814218" cy="566928"/>
          </a:xfrm>
          <a:prstGeom prst="rect">
            <a:avLst/>
          </a:prstGeom>
          <a:noFill/>
        </p:spPr>
        <p:txBody>
          <a:bodyPr wrap="square" lIns="0" rIns="0" tIns="0" bIns="0" anchor="t"/>
          <a:lstStyle/>
          <a:p>
            <a:pPr algn="l">
              <a:lnSpc>
                <a:spcPct val="110000"/>
              </a:lnSpc>
            </a:pPr>
            <a:r>
              <a:rPr sz="1600" b="0" i="0">
                <a:solidFill>
                  <a:srgbClr val="F4F1EA"/>
                </a:solidFill>
                <a:latin typeface="Arial"/>
                <a:ea typeface="Arial"/>
                <a:cs typeface="Arial"/>
              </a:rPr>
              <a:t>small businesses in the U.S.</a:t>
            </a:r>
          </a:p>
        </p:txBody>
      </p:sp>
      <p:sp>
        <p:nvSpPr>
          <p:cNvPr id="8" name="TextBox 7"/>
          <p:cNvSpPr txBox="1"/>
          <p:nvPr/>
        </p:nvSpPr>
        <p:spPr>
          <a:xfrm>
            <a:off x="1005840" y="4005072"/>
            <a:ext cx="2814218" cy="457200"/>
          </a:xfrm>
          <a:prstGeom prst="rect">
            <a:avLst/>
          </a:prstGeom>
          <a:noFill/>
        </p:spPr>
        <p:txBody>
          <a:bodyPr wrap="square" lIns="0" rIns="0" tIns="0" bIns="0" anchor="t"/>
          <a:lstStyle/>
          <a:p>
            <a:pPr algn="l">
              <a:lnSpc>
                <a:spcPct val="110000"/>
              </a:lnSpc>
            </a:pPr>
            <a:r>
              <a:rPr sz="1000" b="0" i="0">
                <a:solidFill>
                  <a:srgbClr val="8A877F"/>
                </a:solidFill>
                <a:latin typeface="Arial"/>
                <a:ea typeface="Arial"/>
                <a:cs typeface="Arial"/>
              </a:rPr>
              <a:t>SBA Office of Advocacy, FAQ 2026</a:t>
            </a:r>
          </a:p>
        </p:txBody>
      </p:sp>
      <p:sp>
        <p:nvSpPr>
          <p:cNvPr id="9" name="Rounded Rectangle 8"/>
          <p:cNvSpPr/>
          <p:nvPr/>
        </p:nvSpPr>
        <p:spPr>
          <a:xfrm>
            <a:off x="4414418" y="2103120"/>
            <a:ext cx="3362858" cy="2560320"/>
          </a:xfrm>
          <a:prstGeom prst="roundRect">
            <a:avLst>
              <a:gd name="adj" fmla="val 4285"/>
            </a:avLst>
          </a:prstGeom>
          <a:solidFill>
            <a:srgbClr val="121214"/>
          </a:solidFill>
          <a:ln w="9525">
            <a:solidFill>
              <a:srgbClr val="232327"/>
            </a:solidFill>
          </a:ln>
        </p:spPr>
        <p:txBody>
          <a:bodyPr rtlCol="0" anchor="ctr"/>
          <a:lstStyle/>
          <a:p/>
        </p:txBody>
      </p:sp>
      <p:sp>
        <p:nvSpPr>
          <p:cNvPr id="10" name="TextBox 9"/>
          <p:cNvSpPr txBox="1"/>
          <p:nvPr/>
        </p:nvSpPr>
        <p:spPr>
          <a:xfrm>
            <a:off x="4734458" y="2304288"/>
            <a:ext cx="2814218" cy="1005840"/>
          </a:xfrm>
          <a:prstGeom prst="rect">
            <a:avLst/>
          </a:prstGeom>
          <a:noFill/>
        </p:spPr>
        <p:txBody>
          <a:bodyPr wrap="square" lIns="0" rIns="0" tIns="0" bIns="0" anchor="t"/>
          <a:lstStyle/>
          <a:p>
            <a:pPr algn="l"/>
            <a:r>
              <a:rPr sz="7200" b="0" i="0">
                <a:solidFill>
                  <a:srgbClr val="F4F1EA"/>
                </a:solidFill>
                <a:latin typeface="Georgia"/>
                <a:ea typeface="Georgia"/>
                <a:cs typeface="Georgia"/>
              </a:rPr>
              <a:t>1 in 6</a:t>
            </a:r>
          </a:p>
        </p:txBody>
      </p:sp>
      <p:sp>
        <p:nvSpPr>
          <p:cNvPr id="11" name="TextBox 10"/>
          <p:cNvSpPr txBox="1"/>
          <p:nvPr/>
        </p:nvSpPr>
        <p:spPr>
          <a:xfrm>
            <a:off x="4734458" y="3346704"/>
            <a:ext cx="2814218" cy="566928"/>
          </a:xfrm>
          <a:prstGeom prst="rect">
            <a:avLst/>
          </a:prstGeom>
          <a:noFill/>
        </p:spPr>
        <p:txBody>
          <a:bodyPr wrap="square" lIns="0" rIns="0" tIns="0" bIns="0" anchor="t"/>
          <a:lstStyle/>
          <a:p>
            <a:pPr algn="l">
              <a:lnSpc>
                <a:spcPct val="110000"/>
              </a:lnSpc>
            </a:pPr>
            <a:r>
              <a:rPr sz="1600" b="0" i="0">
                <a:solidFill>
                  <a:srgbClr val="F4F1EA"/>
                </a:solidFill>
                <a:latin typeface="Arial"/>
                <a:ea typeface="Arial"/>
                <a:cs typeface="Arial"/>
              </a:rPr>
              <a:t>still have no website at all</a:t>
            </a:r>
          </a:p>
        </p:txBody>
      </p:sp>
      <p:sp>
        <p:nvSpPr>
          <p:cNvPr id="12" name="TextBox 11"/>
          <p:cNvSpPr txBox="1"/>
          <p:nvPr/>
        </p:nvSpPr>
        <p:spPr>
          <a:xfrm>
            <a:off x="4734458" y="4005072"/>
            <a:ext cx="2814218" cy="457200"/>
          </a:xfrm>
          <a:prstGeom prst="rect">
            <a:avLst/>
          </a:prstGeom>
          <a:noFill/>
        </p:spPr>
        <p:txBody>
          <a:bodyPr wrap="square" lIns="0" rIns="0" tIns="0" bIns="0" anchor="t"/>
          <a:lstStyle/>
          <a:p>
            <a:pPr algn="l">
              <a:lnSpc>
                <a:spcPct val="110000"/>
              </a:lnSpc>
            </a:pPr>
            <a:r>
              <a:rPr sz="1000" b="0" i="0">
                <a:solidFill>
                  <a:srgbClr val="8A877F"/>
                </a:solidFill>
                <a:latin typeface="Arial"/>
                <a:ea typeface="Arial"/>
                <a:cs typeface="Arial"/>
              </a:rPr>
              <a:t>Clutch small-business website survey, 2025 (17%, n=406)</a:t>
            </a:r>
          </a:p>
        </p:txBody>
      </p:sp>
      <p:sp>
        <p:nvSpPr>
          <p:cNvPr id="13" name="Rounded Rectangle 12"/>
          <p:cNvSpPr/>
          <p:nvPr/>
        </p:nvSpPr>
        <p:spPr>
          <a:xfrm>
            <a:off x="8143036" y="2103120"/>
            <a:ext cx="3362858" cy="2560320"/>
          </a:xfrm>
          <a:prstGeom prst="roundRect">
            <a:avLst>
              <a:gd name="adj" fmla="val 4285"/>
            </a:avLst>
          </a:prstGeom>
          <a:solidFill>
            <a:srgbClr val="121214"/>
          </a:solidFill>
          <a:ln w="9525">
            <a:solidFill>
              <a:srgbClr val="232327"/>
            </a:solidFill>
          </a:ln>
        </p:spPr>
        <p:txBody>
          <a:bodyPr rtlCol="0" anchor="ctr"/>
          <a:lstStyle/>
          <a:p/>
        </p:txBody>
      </p:sp>
      <p:sp>
        <p:nvSpPr>
          <p:cNvPr id="14" name="TextBox 13"/>
          <p:cNvSpPr txBox="1"/>
          <p:nvPr/>
        </p:nvSpPr>
        <p:spPr>
          <a:xfrm>
            <a:off x="8463076" y="2304288"/>
            <a:ext cx="2814218" cy="1005840"/>
          </a:xfrm>
          <a:prstGeom prst="rect">
            <a:avLst/>
          </a:prstGeom>
          <a:noFill/>
        </p:spPr>
        <p:txBody>
          <a:bodyPr wrap="square" lIns="0" rIns="0" tIns="0" bIns="0" anchor="t"/>
          <a:lstStyle/>
          <a:p>
            <a:pPr algn="l"/>
            <a:r>
              <a:rPr sz="7200" b="0" i="0">
                <a:solidFill>
                  <a:srgbClr val="FF5B1F"/>
                </a:solidFill>
                <a:latin typeface="Georgia"/>
                <a:ea typeface="Georgia"/>
                <a:cs typeface="Georgia"/>
              </a:rPr>
              <a:t>$100+</a:t>
            </a:r>
          </a:p>
        </p:txBody>
      </p:sp>
      <p:sp>
        <p:nvSpPr>
          <p:cNvPr id="15" name="TextBox 14"/>
          <p:cNvSpPr txBox="1"/>
          <p:nvPr/>
        </p:nvSpPr>
        <p:spPr>
          <a:xfrm>
            <a:off x="8463076" y="3346704"/>
            <a:ext cx="2814218" cy="566928"/>
          </a:xfrm>
          <a:prstGeom prst="rect">
            <a:avLst/>
          </a:prstGeom>
          <a:noFill/>
        </p:spPr>
        <p:txBody>
          <a:bodyPr wrap="square" lIns="0" rIns="0" tIns="0" bIns="0" anchor="t"/>
          <a:lstStyle/>
          <a:p>
            <a:pPr algn="l">
              <a:lnSpc>
                <a:spcPct val="110000"/>
              </a:lnSpc>
            </a:pPr>
            <a:r>
              <a:rPr sz="1600" b="0" i="0">
                <a:solidFill>
                  <a:srgbClr val="F4F1EA"/>
                </a:solidFill>
                <a:latin typeface="Arial"/>
                <a:ea typeface="Arial"/>
                <a:cs typeface="Arial"/>
              </a:rPr>
              <a:t>an hour — the typical web-design agency rate</a:t>
            </a:r>
          </a:p>
        </p:txBody>
      </p:sp>
      <p:sp>
        <p:nvSpPr>
          <p:cNvPr id="16" name="TextBox 15"/>
          <p:cNvSpPr txBox="1"/>
          <p:nvPr/>
        </p:nvSpPr>
        <p:spPr>
          <a:xfrm>
            <a:off x="8463076" y="4005072"/>
            <a:ext cx="2814218" cy="457200"/>
          </a:xfrm>
          <a:prstGeom prst="rect">
            <a:avLst/>
          </a:prstGeom>
          <a:noFill/>
        </p:spPr>
        <p:txBody>
          <a:bodyPr wrap="square" lIns="0" rIns="0" tIns="0" bIns="0" anchor="t"/>
          <a:lstStyle/>
          <a:p>
            <a:pPr algn="l">
              <a:lnSpc>
                <a:spcPct val="110000"/>
              </a:lnSpc>
            </a:pPr>
            <a:r>
              <a:rPr sz="1000" b="0" i="0">
                <a:solidFill>
                  <a:srgbClr val="8A877F"/>
                </a:solidFill>
                <a:latin typeface="Arial"/>
                <a:ea typeface="Arial"/>
                <a:cs typeface="Arial"/>
              </a:rPr>
              <a:t>Clutch web design pricing guide ($100–$149/hr)</a:t>
            </a:r>
          </a:p>
        </p:txBody>
      </p:sp>
      <p:sp>
        <p:nvSpPr>
          <p:cNvPr id="17" name="TextBox 16"/>
          <p:cNvSpPr txBox="1"/>
          <p:nvPr/>
        </p:nvSpPr>
        <p:spPr>
          <a:xfrm>
            <a:off x="685800" y="4937760"/>
            <a:ext cx="10820095" cy="822960"/>
          </a:xfrm>
          <a:prstGeom prst="rect">
            <a:avLst/>
          </a:prstGeom>
          <a:noFill/>
        </p:spPr>
        <p:txBody>
          <a:bodyPr wrap="square" lIns="0" rIns="0" tIns="0" bIns="0" anchor="t"/>
          <a:lstStyle/>
          <a:p>
            <a:pPr algn="l">
              <a:lnSpc>
                <a:spcPct val="110000"/>
              </a:lnSpc>
            </a:pPr>
            <a:r>
              <a:rPr sz="2400" b="0" i="0">
                <a:solidFill>
                  <a:srgbClr val="F4F1EA"/>
                </a:solidFill>
                <a:latin typeface="Georgia"/>
                <a:ea typeface="Georgia"/>
                <a:cs typeface="Georgia"/>
              </a:rPr>
              <a:t>Agencies sell with decks and promises. The owner has to say yes — and pay — </a:t>
            </a:r>
            <a:r>
              <a:rPr sz="2400" b="0" i="1">
                <a:solidFill>
                  <a:srgbClr val="F4F1EA"/>
                </a:solidFill>
                <a:latin typeface="Georgia"/>
                <a:ea typeface="Georgia"/>
                <a:cs typeface="Georgia"/>
              </a:rPr>
              <a:t>before they see a single pixel.</a:t>
            </a:r>
          </a:p>
        </p:txBody>
      </p:sp>
      <p:sp>
        <p:nvSpPr>
          <p:cNvPr id="18" name="TextBox 17"/>
          <p:cNvSpPr txBox="1"/>
          <p:nvPr/>
        </p:nvSpPr>
        <p:spPr>
          <a:xfrm>
            <a:off x="685800" y="5870448"/>
            <a:ext cx="10820095" cy="365760"/>
          </a:xfrm>
          <a:prstGeom prst="rect">
            <a:avLst/>
          </a:prstGeom>
          <a:noFill/>
        </p:spPr>
        <p:txBody>
          <a:bodyPr wrap="square" lIns="0" rIns="0" tIns="0" bIns="0" anchor="t"/>
          <a:lstStyle/>
          <a:p>
            <a:pPr algn="l"/>
            <a:r>
              <a:rPr sz="800" b="0" i="0">
                <a:solidFill>
                  <a:srgbClr val="5E5C57"/>
                </a:solidFill>
                <a:latin typeface="Arial"/>
                <a:ea typeface="Arial"/>
                <a:cs typeface="Arial"/>
              </a:rPr>
              <a:t>Sources: https://advocacy.sba.gov/2026/02/03/frequently-asked-questions-about-small-business-2026/  ·  https://clutch.co/resources/state-of-small-business-websites-2025  ·  https://clutch.co/web-designers/pricing</a:t>
            </a:r>
          </a:p>
        </p:txBody>
      </p:sp>
      <p:sp>
        <p:nvSpPr>
          <p:cNvPr id="19" name="TextBox 18"/>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20" name="TextBox 19"/>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THE INSIGHT</a:t>
            </a:r>
          </a:p>
        </p:txBody>
      </p:sp>
      <p:sp>
        <p:nvSpPr>
          <p:cNvPr id="4" name="TextBox 3"/>
          <p:cNvSpPr txBox="1"/>
          <p:nvPr/>
        </p:nvSpPr>
        <p:spPr>
          <a:xfrm>
            <a:off x="685800" y="896112"/>
            <a:ext cx="10820095" cy="914400"/>
          </a:xfrm>
          <a:prstGeom prst="rect">
            <a:avLst/>
          </a:prstGeom>
          <a:noFill/>
        </p:spPr>
        <p:txBody>
          <a:bodyPr wrap="square" lIns="0" rIns="0" tIns="0" bIns="0" anchor="t"/>
          <a:lstStyle/>
          <a:p>
            <a:pPr algn="l">
              <a:lnSpc>
                <a:spcPct val="95000"/>
              </a:lnSpc>
            </a:pPr>
            <a:r>
              <a:rPr sz="5200" b="0" i="0">
                <a:solidFill>
                  <a:srgbClr val="F4F1EA"/>
                </a:solidFill>
                <a:latin typeface="Georgia"/>
                <a:ea typeface="Georgia"/>
                <a:cs typeface="Georgia"/>
              </a:rPr>
              <a:t>Flip it. The work </a:t>
            </a:r>
            <a:r>
              <a:rPr sz="5200" b="0" i="1">
                <a:solidFill>
                  <a:srgbClr val="FF5B1F"/>
                </a:solidFill>
                <a:latin typeface="Georgia"/>
                <a:ea typeface="Georgia"/>
                <a:cs typeface="Georgia"/>
              </a:rPr>
              <a:t>is</a:t>
            </a:r>
            <a:r>
              <a:rPr sz="5200" b="0" i="0">
                <a:solidFill>
                  <a:srgbClr val="F4F1EA"/>
                </a:solidFill>
                <a:latin typeface="Georgia"/>
                <a:ea typeface="Georgia"/>
                <a:cs typeface="Georgia"/>
              </a:rPr>
              <a:t> the pitch.</a:t>
            </a:r>
          </a:p>
        </p:txBody>
      </p:sp>
      <p:sp>
        <p:nvSpPr>
          <p:cNvPr id="5" name="TextBox 4"/>
          <p:cNvSpPr txBox="1"/>
          <p:nvPr/>
        </p:nvSpPr>
        <p:spPr>
          <a:xfrm>
            <a:off x="685800" y="2377440"/>
            <a:ext cx="5943600" cy="274320"/>
          </a:xfrm>
          <a:prstGeom prst="rect">
            <a:avLst/>
          </a:prstGeom>
          <a:noFill/>
        </p:spPr>
        <p:txBody>
          <a:bodyPr wrap="square" lIns="0" rIns="0" tIns="0" bIns="0" anchor="t"/>
          <a:lstStyle/>
          <a:p>
            <a:pPr algn="l"/>
            <a:r>
              <a:rPr sz="1050" b="1" i="0" spc="250">
                <a:solidFill>
                  <a:srgbClr val="8A877F"/>
                </a:solidFill>
                <a:latin typeface="Arial"/>
                <a:ea typeface="Arial"/>
                <a:cs typeface="Arial"/>
              </a:rPr>
              <a:t>A TYPICAL AGENCY</a:t>
            </a:r>
          </a:p>
        </p:txBody>
      </p:sp>
      <p:sp>
        <p:nvSpPr>
          <p:cNvPr id="6" name="Rounded Rectangle 5"/>
          <p:cNvSpPr/>
          <p:nvPr/>
        </p:nvSpPr>
        <p:spPr>
          <a:xfrm>
            <a:off x="685800" y="2724912"/>
            <a:ext cx="749871" cy="420624"/>
          </a:xfrm>
          <a:prstGeom prst="roundRect">
            <a:avLst>
              <a:gd name="adj" fmla="val 50000"/>
            </a:avLst>
          </a:prstGeom>
          <a:solidFill>
            <a:srgbClr val="121214"/>
          </a:solidFill>
          <a:ln w="9525">
            <a:solidFill>
              <a:srgbClr val="34343A"/>
            </a:solidFill>
          </a:ln>
        </p:spPr>
        <p:txBody>
          <a:bodyPr rtlCol="0" anchor="ctr"/>
          <a:lstStyle/>
          <a:p/>
        </p:txBody>
      </p:sp>
      <p:sp>
        <p:nvSpPr>
          <p:cNvPr id="7" name="TextBox 6"/>
          <p:cNvSpPr txBox="1"/>
          <p:nvPr/>
        </p:nvSpPr>
        <p:spPr>
          <a:xfrm>
            <a:off x="850392" y="2724912"/>
            <a:ext cx="466407" cy="420624"/>
          </a:xfrm>
          <a:prstGeom prst="rect">
            <a:avLst/>
          </a:prstGeom>
          <a:noFill/>
        </p:spPr>
        <p:txBody>
          <a:bodyPr wrap="none" lIns="0" rIns="0" tIns="0" bIns="0" anchor="ctr"/>
          <a:lstStyle/>
          <a:p>
            <a:pPr algn="l"/>
            <a:r>
              <a:rPr sz="1250" b="0" i="0">
                <a:solidFill>
                  <a:srgbClr val="8A877F"/>
                </a:solidFill>
                <a:latin typeface="Arial"/>
                <a:ea typeface="Arial"/>
                <a:cs typeface="Arial"/>
              </a:rPr>
              <a:t>Pitch</a:t>
            </a:r>
          </a:p>
        </p:txBody>
      </p:sp>
      <p:cxnSp>
        <p:nvCxnSpPr>
          <p:cNvPr id="8" name="Connector 7"/>
          <p:cNvCxnSpPr/>
          <p:nvPr/>
        </p:nvCxnSpPr>
        <p:spPr>
          <a:xfrm>
            <a:off x="1490535" y="2935224"/>
            <a:ext cx="219456" cy="0"/>
          </a:xfrm>
          <a:prstGeom prst="line">
            <a:avLst/>
          </a:prstGeom>
          <a:ln w="15875">
            <a:solidFill>
              <a:srgbClr val="5E5C57"/>
            </a:solidFill>
            <a:tailEnd type="triangle" w="med" len="med"/>
          </a:ln>
        </p:spPr>
      </p:cxnSp>
      <p:sp>
        <p:nvSpPr>
          <p:cNvPr id="9" name="Rounded Rectangle 8"/>
          <p:cNvSpPr/>
          <p:nvPr/>
        </p:nvSpPr>
        <p:spPr>
          <a:xfrm>
            <a:off x="1764855" y="2724912"/>
            <a:ext cx="1002283" cy="420624"/>
          </a:xfrm>
          <a:prstGeom prst="roundRect">
            <a:avLst>
              <a:gd name="adj" fmla="val 50000"/>
            </a:avLst>
          </a:prstGeom>
          <a:solidFill>
            <a:srgbClr val="121214"/>
          </a:solidFill>
          <a:ln w="9525">
            <a:solidFill>
              <a:srgbClr val="34343A"/>
            </a:solidFill>
          </a:ln>
        </p:spPr>
        <p:txBody>
          <a:bodyPr rtlCol="0" anchor="ctr"/>
          <a:lstStyle/>
          <a:p/>
        </p:txBody>
      </p:sp>
      <p:sp>
        <p:nvSpPr>
          <p:cNvPr id="10" name="TextBox 9"/>
          <p:cNvSpPr txBox="1"/>
          <p:nvPr/>
        </p:nvSpPr>
        <p:spPr>
          <a:xfrm>
            <a:off x="1929447" y="2724912"/>
            <a:ext cx="718820" cy="420624"/>
          </a:xfrm>
          <a:prstGeom prst="rect">
            <a:avLst/>
          </a:prstGeom>
          <a:noFill/>
        </p:spPr>
        <p:txBody>
          <a:bodyPr wrap="none" lIns="0" rIns="0" tIns="0" bIns="0" anchor="ctr"/>
          <a:lstStyle/>
          <a:p>
            <a:pPr algn="l"/>
            <a:r>
              <a:rPr sz="1250" b="0" i="0">
                <a:solidFill>
                  <a:srgbClr val="8A877F"/>
                </a:solidFill>
                <a:latin typeface="Arial"/>
                <a:ea typeface="Arial"/>
                <a:cs typeface="Arial"/>
              </a:rPr>
              <a:t>Contract</a:t>
            </a:r>
          </a:p>
        </p:txBody>
      </p:sp>
      <p:cxnSp>
        <p:nvCxnSpPr>
          <p:cNvPr id="11" name="Connector 10"/>
          <p:cNvCxnSpPr/>
          <p:nvPr/>
        </p:nvCxnSpPr>
        <p:spPr>
          <a:xfrm>
            <a:off x="2822003" y="2935224"/>
            <a:ext cx="219456" cy="0"/>
          </a:xfrm>
          <a:prstGeom prst="line">
            <a:avLst/>
          </a:prstGeom>
          <a:ln w="15875">
            <a:solidFill>
              <a:srgbClr val="5E5C57"/>
            </a:solidFill>
            <a:tailEnd type="triangle" w="med" len="med"/>
          </a:ln>
        </p:spPr>
      </p:cxnSp>
      <p:sp>
        <p:nvSpPr>
          <p:cNvPr id="12" name="Rounded Rectangle 11"/>
          <p:cNvSpPr/>
          <p:nvPr/>
        </p:nvSpPr>
        <p:spPr>
          <a:xfrm>
            <a:off x="3096323" y="2724912"/>
            <a:ext cx="918146" cy="420624"/>
          </a:xfrm>
          <a:prstGeom prst="roundRect">
            <a:avLst>
              <a:gd name="adj" fmla="val 50000"/>
            </a:avLst>
          </a:prstGeom>
          <a:solidFill>
            <a:srgbClr val="121214"/>
          </a:solidFill>
          <a:ln w="9525">
            <a:solidFill>
              <a:srgbClr val="34343A"/>
            </a:solidFill>
          </a:ln>
        </p:spPr>
        <p:txBody>
          <a:bodyPr rtlCol="0" anchor="ctr"/>
          <a:lstStyle/>
          <a:p/>
        </p:txBody>
      </p:sp>
      <p:sp>
        <p:nvSpPr>
          <p:cNvPr id="13" name="TextBox 12"/>
          <p:cNvSpPr txBox="1"/>
          <p:nvPr/>
        </p:nvSpPr>
        <p:spPr>
          <a:xfrm>
            <a:off x="3260915" y="2724912"/>
            <a:ext cx="634682" cy="420624"/>
          </a:xfrm>
          <a:prstGeom prst="rect">
            <a:avLst/>
          </a:prstGeom>
          <a:noFill/>
        </p:spPr>
        <p:txBody>
          <a:bodyPr wrap="none" lIns="0" rIns="0" tIns="0" bIns="0" anchor="ctr"/>
          <a:lstStyle/>
          <a:p>
            <a:pPr algn="l"/>
            <a:r>
              <a:rPr sz="1250" b="0" i="0">
                <a:solidFill>
                  <a:srgbClr val="8A877F"/>
                </a:solidFill>
                <a:latin typeface="Arial"/>
                <a:ea typeface="Arial"/>
                <a:cs typeface="Arial"/>
              </a:rPr>
              <a:t>Deposit</a:t>
            </a:r>
          </a:p>
        </p:txBody>
      </p:sp>
      <p:cxnSp>
        <p:nvCxnSpPr>
          <p:cNvPr id="14" name="Connector 13"/>
          <p:cNvCxnSpPr/>
          <p:nvPr/>
        </p:nvCxnSpPr>
        <p:spPr>
          <a:xfrm>
            <a:off x="4069333" y="2935224"/>
            <a:ext cx="219457" cy="0"/>
          </a:xfrm>
          <a:prstGeom prst="line">
            <a:avLst/>
          </a:prstGeom>
          <a:ln w="15875">
            <a:solidFill>
              <a:srgbClr val="5E5C57"/>
            </a:solidFill>
            <a:tailEnd type="triangle" w="med" len="med"/>
          </a:ln>
        </p:spPr>
      </p:cxnSp>
      <p:sp>
        <p:nvSpPr>
          <p:cNvPr id="15" name="Rounded Rectangle 14"/>
          <p:cNvSpPr/>
          <p:nvPr/>
        </p:nvSpPr>
        <p:spPr>
          <a:xfrm>
            <a:off x="4343654" y="2724912"/>
            <a:ext cx="1170559" cy="420624"/>
          </a:xfrm>
          <a:prstGeom prst="roundRect">
            <a:avLst>
              <a:gd name="adj" fmla="val 50000"/>
            </a:avLst>
          </a:prstGeom>
          <a:solidFill>
            <a:srgbClr val="121214"/>
          </a:solidFill>
          <a:ln w="9525">
            <a:solidFill>
              <a:srgbClr val="34343A"/>
            </a:solidFill>
          </a:ln>
        </p:spPr>
        <p:txBody>
          <a:bodyPr rtlCol="0" anchor="ctr"/>
          <a:lstStyle/>
          <a:p/>
        </p:txBody>
      </p:sp>
      <p:sp>
        <p:nvSpPr>
          <p:cNvPr id="16" name="TextBox 15"/>
          <p:cNvSpPr txBox="1"/>
          <p:nvPr/>
        </p:nvSpPr>
        <p:spPr>
          <a:xfrm>
            <a:off x="4508246" y="2724912"/>
            <a:ext cx="887095" cy="420624"/>
          </a:xfrm>
          <a:prstGeom prst="rect">
            <a:avLst/>
          </a:prstGeom>
          <a:noFill/>
        </p:spPr>
        <p:txBody>
          <a:bodyPr wrap="none" lIns="0" rIns="0" tIns="0" bIns="0" anchor="ctr"/>
          <a:lstStyle/>
          <a:p>
            <a:pPr algn="l"/>
            <a:r>
              <a:rPr sz="1250" b="0" i="0">
                <a:solidFill>
                  <a:srgbClr val="8A877F"/>
                </a:solidFill>
                <a:latin typeface="Arial"/>
                <a:ea typeface="Arial"/>
                <a:cs typeface="Arial"/>
              </a:rPr>
              <a:t>Wait weeks</a:t>
            </a:r>
          </a:p>
        </p:txBody>
      </p:sp>
      <p:cxnSp>
        <p:nvCxnSpPr>
          <p:cNvPr id="17" name="Connector 16"/>
          <p:cNvCxnSpPr/>
          <p:nvPr/>
        </p:nvCxnSpPr>
        <p:spPr>
          <a:xfrm>
            <a:off x="5569076" y="2935224"/>
            <a:ext cx="219457" cy="0"/>
          </a:xfrm>
          <a:prstGeom prst="line">
            <a:avLst/>
          </a:prstGeom>
          <a:ln w="15875">
            <a:solidFill>
              <a:srgbClr val="5E5C57"/>
            </a:solidFill>
            <a:tailEnd type="triangle" w="med" len="med"/>
          </a:ln>
        </p:spPr>
      </p:cxnSp>
      <p:sp>
        <p:nvSpPr>
          <p:cNvPr id="18" name="Rounded Rectangle 17"/>
          <p:cNvSpPr/>
          <p:nvPr/>
        </p:nvSpPr>
        <p:spPr>
          <a:xfrm>
            <a:off x="5843397" y="2724912"/>
            <a:ext cx="834009" cy="420624"/>
          </a:xfrm>
          <a:prstGeom prst="roundRect">
            <a:avLst>
              <a:gd name="adj" fmla="val 50000"/>
            </a:avLst>
          </a:prstGeom>
          <a:solidFill>
            <a:srgbClr val="121214"/>
          </a:solidFill>
          <a:ln w="9525">
            <a:solidFill>
              <a:srgbClr val="34343A"/>
            </a:solidFill>
          </a:ln>
        </p:spPr>
        <p:txBody>
          <a:bodyPr rtlCol="0" anchor="ctr"/>
          <a:lstStyle/>
          <a:p/>
        </p:txBody>
      </p:sp>
      <p:sp>
        <p:nvSpPr>
          <p:cNvPr id="19" name="TextBox 18"/>
          <p:cNvSpPr txBox="1"/>
          <p:nvPr/>
        </p:nvSpPr>
        <p:spPr>
          <a:xfrm>
            <a:off x="6007989" y="2724912"/>
            <a:ext cx="550545" cy="420624"/>
          </a:xfrm>
          <a:prstGeom prst="rect">
            <a:avLst/>
          </a:prstGeom>
          <a:noFill/>
        </p:spPr>
        <p:txBody>
          <a:bodyPr wrap="none" lIns="0" rIns="0" tIns="0" bIns="0" anchor="ctr"/>
          <a:lstStyle/>
          <a:p>
            <a:pPr algn="l"/>
            <a:r>
              <a:rPr sz="1250" b="0" i="0">
                <a:solidFill>
                  <a:srgbClr val="8A877F"/>
                </a:solidFill>
                <a:latin typeface="Arial"/>
                <a:ea typeface="Arial"/>
                <a:cs typeface="Arial"/>
              </a:rPr>
              <a:t>Reveal</a:t>
            </a:r>
          </a:p>
        </p:txBody>
      </p:sp>
      <p:sp>
        <p:nvSpPr>
          <p:cNvPr id="20" name="TextBox 19"/>
          <p:cNvSpPr txBox="1"/>
          <p:nvPr/>
        </p:nvSpPr>
        <p:spPr>
          <a:xfrm>
            <a:off x="685800" y="3520440"/>
            <a:ext cx="5943600" cy="274320"/>
          </a:xfrm>
          <a:prstGeom prst="rect">
            <a:avLst/>
          </a:prstGeom>
          <a:noFill/>
        </p:spPr>
        <p:txBody>
          <a:bodyPr wrap="square" lIns="0" rIns="0" tIns="0" bIns="0" anchor="t"/>
          <a:lstStyle/>
          <a:p>
            <a:pPr algn="l"/>
            <a:r>
              <a:rPr sz="1050" b="1" i="0" spc="250">
                <a:solidFill>
                  <a:srgbClr val="FF5B1F"/>
                </a:solidFill>
                <a:latin typeface="Arial"/>
                <a:ea typeface="Arial"/>
                <a:cs typeface="Arial"/>
              </a:rPr>
              <a:t>COLD OPEN</a:t>
            </a:r>
          </a:p>
        </p:txBody>
      </p:sp>
      <p:sp>
        <p:nvSpPr>
          <p:cNvPr id="21" name="Rounded Rectangle 20"/>
          <p:cNvSpPr/>
          <p:nvPr/>
        </p:nvSpPr>
        <p:spPr>
          <a:xfrm>
            <a:off x="685800" y="3867912"/>
            <a:ext cx="1002283" cy="420624"/>
          </a:xfrm>
          <a:prstGeom prst="roundRect">
            <a:avLst>
              <a:gd name="adj" fmla="val 50000"/>
            </a:avLst>
          </a:prstGeom>
          <a:solidFill>
            <a:srgbClr val="18181B"/>
          </a:solidFill>
          <a:ln w="9525">
            <a:solidFill>
              <a:srgbClr val="FF5B1F"/>
            </a:solidFill>
          </a:ln>
        </p:spPr>
        <p:txBody>
          <a:bodyPr rtlCol="0" anchor="ctr"/>
          <a:lstStyle/>
          <a:p/>
        </p:txBody>
      </p:sp>
      <p:sp>
        <p:nvSpPr>
          <p:cNvPr id="22" name="TextBox 21"/>
          <p:cNvSpPr txBox="1"/>
          <p:nvPr/>
        </p:nvSpPr>
        <p:spPr>
          <a:xfrm>
            <a:off x="850392" y="3867912"/>
            <a:ext cx="718820" cy="420624"/>
          </a:xfrm>
          <a:prstGeom prst="rect">
            <a:avLst/>
          </a:prstGeom>
          <a:noFill/>
        </p:spPr>
        <p:txBody>
          <a:bodyPr wrap="none" lIns="0" rIns="0" tIns="0" bIns="0" anchor="ctr"/>
          <a:lstStyle/>
          <a:p>
            <a:pPr algn="l"/>
            <a:r>
              <a:rPr sz="1250" b="0" i="0">
                <a:solidFill>
                  <a:srgbClr val="F4F1EA"/>
                </a:solidFill>
                <a:latin typeface="Arial"/>
                <a:ea typeface="Arial"/>
                <a:cs typeface="Arial"/>
              </a:rPr>
              <a:t>Build it</a:t>
            </a:r>
          </a:p>
        </p:txBody>
      </p:sp>
      <p:cxnSp>
        <p:nvCxnSpPr>
          <p:cNvPr id="23" name="Connector 22"/>
          <p:cNvCxnSpPr/>
          <p:nvPr/>
        </p:nvCxnSpPr>
        <p:spPr>
          <a:xfrm>
            <a:off x="1742948" y="4078224"/>
            <a:ext cx="219455" cy="0"/>
          </a:xfrm>
          <a:prstGeom prst="line">
            <a:avLst/>
          </a:prstGeom>
          <a:ln w="15875">
            <a:solidFill>
              <a:srgbClr val="FF5B1F"/>
            </a:solidFill>
            <a:tailEnd type="triangle" w="med" len="med"/>
          </a:ln>
        </p:spPr>
      </p:cxnSp>
      <p:sp>
        <p:nvSpPr>
          <p:cNvPr id="24" name="Rounded Rectangle 23"/>
          <p:cNvSpPr/>
          <p:nvPr/>
        </p:nvSpPr>
        <p:spPr>
          <a:xfrm>
            <a:off x="2017267" y="3867912"/>
            <a:ext cx="1254696" cy="420624"/>
          </a:xfrm>
          <a:prstGeom prst="roundRect">
            <a:avLst>
              <a:gd name="adj" fmla="val 50000"/>
            </a:avLst>
          </a:prstGeom>
          <a:solidFill>
            <a:srgbClr val="18181B"/>
          </a:solidFill>
          <a:ln w="9525">
            <a:solidFill>
              <a:srgbClr val="FF5B1F"/>
            </a:solidFill>
          </a:ln>
        </p:spPr>
        <p:txBody>
          <a:bodyPr rtlCol="0" anchor="ctr"/>
          <a:lstStyle/>
          <a:p/>
        </p:txBody>
      </p:sp>
      <p:sp>
        <p:nvSpPr>
          <p:cNvPr id="25" name="TextBox 24"/>
          <p:cNvSpPr txBox="1"/>
          <p:nvPr/>
        </p:nvSpPr>
        <p:spPr>
          <a:xfrm>
            <a:off x="2181860" y="3867912"/>
            <a:ext cx="971232" cy="420624"/>
          </a:xfrm>
          <a:prstGeom prst="rect">
            <a:avLst/>
          </a:prstGeom>
          <a:noFill/>
        </p:spPr>
        <p:txBody>
          <a:bodyPr wrap="none" lIns="0" rIns="0" tIns="0" bIns="0" anchor="ctr"/>
          <a:lstStyle/>
          <a:p>
            <a:pPr algn="l"/>
            <a:r>
              <a:rPr sz="1250" b="0" i="0">
                <a:solidFill>
                  <a:srgbClr val="F4F1EA"/>
                </a:solidFill>
                <a:latin typeface="Arial"/>
                <a:ea typeface="Arial"/>
                <a:cs typeface="Arial"/>
              </a:rPr>
              <a:t>Critique it</a:t>
            </a:r>
          </a:p>
        </p:txBody>
      </p:sp>
      <p:cxnSp>
        <p:nvCxnSpPr>
          <p:cNvPr id="26" name="Connector 25"/>
          <p:cNvCxnSpPr/>
          <p:nvPr/>
        </p:nvCxnSpPr>
        <p:spPr>
          <a:xfrm>
            <a:off x="3326828" y="4078224"/>
            <a:ext cx="219456" cy="0"/>
          </a:xfrm>
          <a:prstGeom prst="line">
            <a:avLst/>
          </a:prstGeom>
          <a:ln w="15875">
            <a:solidFill>
              <a:srgbClr val="FF5B1F"/>
            </a:solidFill>
            <a:tailEnd type="triangle" w="med" len="med"/>
          </a:ln>
        </p:spPr>
      </p:cxnSp>
      <p:sp>
        <p:nvSpPr>
          <p:cNvPr id="27" name="Rounded Rectangle 26"/>
          <p:cNvSpPr/>
          <p:nvPr/>
        </p:nvSpPr>
        <p:spPr>
          <a:xfrm>
            <a:off x="3601148" y="3867912"/>
            <a:ext cx="918146" cy="420624"/>
          </a:xfrm>
          <a:prstGeom prst="roundRect">
            <a:avLst>
              <a:gd name="adj" fmla="val 50000"/>
            </a:avLst>
          </a:prstGeom>
          <a:solidFill>
            <a:srgbClr val="18181B"/>
          </a:solidFill>
          <a:ln w="9525">
            <a:solidFill>
              <a:srgbClr val="FF5B1F"/>
            </a:solidFill>
          </a:ln>
        </p:spPr>
        <p:txBody>
          <a:bodyPr rtlCol="0" anchor="ctr"/>
          <a:lstStyle/>
          <a:p/>
        </p:txBody>
      </p:sp>
      <p:sp>
        <p:nvSpPr>
          <p:cNvPr id="28" name="TextBox 27"/>
          <p:cNvSpPr txBox="1"/>
          <p:nvPr/>
        </p:nvSpPr>
        <p:spPr>
          <a:xfrm>
            <a:off x="3765740" y="3867912"/>
            <a:ext cx="634682" cy="420624"/>
          </a:xfrm>
          <a:prstGeom prst="rect">
            <a:avLst/>
          </a:prstGeom>
          <a:noFill/>
        </p:spPr>
        <p:txBody>
          <a:bodyPr wrap="none" lIns="0" rIns="0" tIns="0" bIns="0" anchor="ctr"/>
          <a:lstStyle/>
          <a:p>
            <a:pPr algn="l"/>
            <a:r>
              <a:rPr sz="1250" b="0" i="0">
                <a:solidFill>
                  <a:srgbClr val="F4F1EA"/>
                </a:solidFill>
                <a:latin typeface="Arial"/>
                <a:ea typeface="Arial"/>
                <a:cs typeface="Arial"/>
              </a:rPr>
              <a:t>Show it</a:t>
            </a:r>
          </a:p>
        </p:txBody>
      </p:sp>
      <p:cxnSp>
        <p:nvCxnSpPr>
          <p:cNvPr id="29" name="Connector 28"/>
          <p:cNvCxnSpPr/>
          <p:nvPr/>
        </p:nvCxnSpPr>
        <p:spPr>
          <a:xfrm>
            <a:off x="4574159" y="4078224"/>
            <a:ext cx="219456" cy="0"/>
          </a:xfrm>
          <a:prstGeom prst="line">
            <a:avLst/>
          </a:prstGeom>
          <a:ln w="15875">
            <a:solidFill>
              <a:srgbClr val="FF5B1F"/>
            </a:solidFill>
            <a:tailEnd type="triangle" w="med" len="med"/>
          </a:ln>
        </p:spPr>
      </p:cxnSp>
      <p:sp>
        <p:nvSpPr>
          <p:cNvPr id="30" name="Rounded Rectangle 29"/>
          <p:cNvSpPr/>
          <p:nvPr/>
        </p:nvSpPr>
        <p:spPr>
          <a:xfrm>
            <a:off x="4848479" y="3867912"/>
            <a:ext cx="1254696" cy="420624"/>
          </a:xfrm>
          <a:prstGeom prst="roundRect">
            <a:avLst>
              <a:gd name="adj" fmla="val 50000"/>
            </a:avLst>
          </a:prstGeom>
          <a:solidFill>
            <a:srgbClr val="FF5B1F"/>
          </a:solidFill>
          <a:ln w="9525">
            <a:solidFill>
              <a:srgbClr val="FF5B1F"/>
            </a:solidFill>
          </a:ln>
        </p:spPr>
        <p:txBody>
          <a:bodyPr rtlCol="0" anchor="ctr"/>
          <a:lstStyle/>
          <a:p/>
        </p:txBody>
      </p:sp>
      <p:sp>
        <p:nvSpPr>
          <p:cNvPr id="31" name="TextBox 30"/>
          <p:cNvSpPr txBox="1"/>
          <p:nvPr/>
        </p:nvSpPr>
        <p:spPr>
          <a:xfrm>
            <a:off x="5013071" y="3867912"/>
            <a:ext cx="971232" cy="420624"/>
          </a:xfrm>
          <a:prstGeom prst="rect">
            <a:avLst/>
          </a:prstGeom>
          <a:noFill/>
        </p:spPr>
        <p:txBody>
          <a:bodyPr wrap="none" lIns="0" rIns="0" tIns="0" bIns="0" anchor="ctr"/>
          <a:lstStyle/>
          <a:p>
            <a:pPr algn="l"/>
            <a:r>
              <a:rPr sz="1250" b="1" i="0">
                <a:solidFill>
                  <a:srgbClr val="0A0A0B"/>
                </a:solidFill>
                <a:latin typeface="Arial"/>
                <a:ea typeface="Arial"/>
                <a:cs typeface="Arial"/>
              </a:rPr>
              <a:t>Claim · $49</a:t>
            </a:r>
          </a:p>
        </p:txBody>
      </p:sp>
      <p:sp>
        <p:nvSpPr>
          <p:cNvPr id="32" name="TextBox 31"/>
          <p:cNvSpPr txBox="1"/>
          <p:nvPr/>
        </p:nvSpPr>
        <p:spPr>
          <a:xfrm>
            <a:off x="685800" y="4754880"/>
            <a:ext cx="5852160" cy="914400"/>
          </a:xfrm>
          <a:prstGeom prst="rect">
            <a:avLst/>
          </a:prstGeom>
          <a:noFill/>
        </p:spPr>
        <p:txBody>
          <a:bodyPr wrap="square" lIns="0" rIns="0" tIns="0" bIns="0" anchor="t"/>
          <a:lstStyle/>
          <a:p>
            <a:pPr algn="l">
              <a:lnSpc>
                <a:spcPct val="120000"/>
              </a:lnSpc>
            </a:pPr>
            <a:r>
              <a:rPr sz="1500" b="0" i="0">
                <a:solidFill>
                  <a:srgbClr val="F4F1EA"/>
                </a:solidFill>
                <a:latin typeface="Arial"/>
                <a:ea typeface="Arial"/>
                <a:cs typeface="Arial"/>
              </a:rPr>
              <a:t>Agents make the work nearly free — </a:t>
            </a:r>
            <a:r>
              <a:rPr sz="1500" b="1" i="0">
                <a:solidFill>
                  <a:srgbClr val="3DDC84"/>
                </a:solidFill>
                <a:latin typeface="Arial"/>
                <a:ea typeface="Arial"/>
                <a:cs typeface="Arial"/>
              </a:rPr>
              <a:t>5.7¢</a:t>
            </a:r>
            <a:r>
              <a:rPr sz="1500" b="0" i="0">
                <a:solidFill>
                  <a:srgbClr val="F4F1EA"/>
                </a:solidFill>
                <a:latin typeface="Arial"/>
                <a:ea typeface="Arial"/>
                <a:cs typeface="Arial"/>
              </a:rPr>
              <a:t> of model spend per site today — so we can afford to do it for everyone, first.</a:t>
            </a:r>
          </a:p>
        </p:txBody>
      </p:sp>
      <p:sp>
        <p:nvSpPr>
          <p:cNvPr id="33" name="Rounded Rectangle 32"/>
          <p:cNvSpPr/>
          <p:nvPr/>
        </p:nvSpPr>
        <p:spPr>
          <a:xfrm>
            <a:off x="6903720" y="1828800"/>
            <a:ext cx="4602175" cy="4069080"/>
          </a:xfrm>
          <a:prstGeom prst="roundRect">
            <a:avLst>
              <a:gd name="adj" fmla="val 3146"/>
            </a:avLst>
          </a:prstGeom>
          <a:solidFill>
            <a:srgbClr val="1A1A1D"/>
          </a:solidFill>
          <a:ln w="9525">
            <a:solidFill>
              <a:srgbClr val="34343A"/>
            </a:solidFill>
          </a:ln>
        </p:spPr>
        <p:txBody>
          <a:bodyPr rtlCol="0" anchor="ctr"/>
          <a:lstStyle/>
          <a:p/>
        </p:txBody>
      </p:sp>
      <p:sp>
        <p:nvSpPr>
          <p:cNvPr id="34" name="Oval 33"/>
          <p:cNvSpPr/>
          <p:nvPr/>
        </p:nvSpPr>
        <p:spPr>
          <a:xfrm>
            <a:off x="7086600" y="2002536"/>
            <a:ext cx="91440" cy="91440"/>
          </a:xfrm>
          <a:prstGeom prst="ellipse">
            <a:avLst/>
          </a:prstGeom>
          <a:solidFill>
            <a:srgbClr val="FF5F57"/>
          </a:solidFill>
          <a:ln>
            <a:noFill/>
          </a:ln>
        </p:spPr>
        <p:txBody>
          <a:bodyPr rtlCol="0" anchor="ctr"/>
          <a:lstStyle/>
          <a:p/>
        </p:txBody>
      </p:sp>
      <p:sp>
        <p:nvSpPr>
          <p:cNvPr id="35" name="Oval 34"/>
          <p:cNvSpPr/>
          <p:nvPr/>
        </p:nvSpPr>
        <p:spPr>
          <a:xfrm>
            <a:off x="7269480" y="2002536"/>
            <a:ext cx="91440" cy="91440"/>
          </a:xfrm>
          <a:prstGeom prst="ellipse">
            <a:avLst/>
          </a:prstGeom>
          <a:solidFill>
            <a:srgbClr val="FEBC2E"/>
          </a:solidFill>
          <a:ln>
            <a:noFill/>
          </a:ln>
        </p:spPr>
        <p:txBody>
          <a:bodyPr rtlCol="0" anchor="ctr"/>
          <a:lstStyle/>
          <a:p/>
        </p:txBody>
      </p:sp>
      <p:sp>
        <p:nvSpPr>
          <p:cNvPr id="36" name="Oval 35"/>
          <p:cNvSpPr/>
          <p:nvPr/>
        </p:nvSpPr>
        <p:spPr>
          <a:xfrm>
            <a:off x="7452359" y="2002536"/>
            <a:ext cx="91440" cy="91440"/>
          </a:xfrm>
          <a:prstGeom prst="ellipse">
            <a:avLst/>
          </a:prstGeom>
          <a:solidFill>
            <a:srgbClr val="28C840"/>
          </a:solidFill>
          <a:ln>
            <a:noFill/>
          </a:ln>
        </p:spPr>
        <p:txBody>
          <a:bodyPr rtlCol="0" anchor="ctr"/>
          <a:lstStyle/>
          <a:p/>
        </p:txBody>
      </p:sp>
      <p:pic>
        <p:nvPicPr>
          <p:cNvPr id="37" name="Picture 36" descr="site-1.png"/>
          <p:cNvPicPr>
            <a:picLocks noChangeAspect="1"/>
          </p:cNvPicPr>
          <p:nvPr/>
        </p:nvPicPr>
        <p:blipFill>
          <a:blip r:embed="rId3"/>
          <a:srcRect l="10771" r="10771"/>
          <a:stretch>
            <a:fillRect/>
          </a:stretch>
        </p:blipFill>
        <p:spPr>
          <a:xfrm>
            <a:off x="6995159" y="2286000"/>
            <a:ext cx="4419295" cy="3520440"/>
          </a:xfrm>
          <a:prstGeom prst="rect">
            <a:avLst/>
          </a:prstGeom>
        </p:spPr>
      </p:pic>
      <p:sp>
        <p:nvSpPr>
          <p:cNvPr id="38" name="TextBox 37"/>
          <p:cNvSpPr txBox="1"/>
          <p:nvPr/>
        </p:nvSpPr>
        <p:spPr>
          <a:xfrm>
            <a:off x="6903720" y="6007608"/>
            <a:ext cx="4602175" cy="274320"/>
          </a:xfrm>
          <a:prstGeom prst="rect">
            <a:avLst/>
          </a:prstGeom>
          <a:noFill/>
        </p:spPr>
        <p:txBody>
          <a:bodyPr wrap="square" lIns="0" rIns="0" tIns="0" bIns="0" anchor="t"/>
          <a:lstStyle/>
          <a:p>
            <a:pPr algn="ctr"/>
            <a:r>
              <a:rPr sz="950" b="0" i="0">
                <a:solidFill>
                  <a:srgbClr val="8A877F"/>
                </a:solidFill>
                <a:latin typeface="Arial"/>
                <a:ea typeface="Arial"/>
                <a:cs typeface="Arial"/>
              </a:rPr>
              <a:t>A real preview site, generated by the agents</a:t>
            </a:r>
          </a:p>
        </p:txBody>
      </p:sp>
      <p:sp>
        <p:nvSpPr>
          <p:cNvPr id="39" name="TextBox 38"/>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40" name="TextBox 39"/>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THE DEMO</a:t>
            </a:r>
          </a:p>
        </p:txBody>
      </p:sp>
      <p:sp>
        <p:nvSpPr>
          <p:cNvPr id="4" name="TextBox 3"/>
          <p:cNvSpPr txBox="1"/>
          <p:nvPr/>
        </p:nvSpPr>
        <p:spPr>
          <a:xfrm>
            <a:off x="685800" y="896112"/>
            <a:ext cx="10820095" cy="914400"/>
          </a:xfrm>
          <a:prstGeom prst="rect">
            <a:avLst/>
          </a:prstGeom>
          <a:noFill/>
        </p:spPr>
        <p:txBody>
          <a:bodyPr wrap="square" lIns="0" rIns="0" tIns="0" bIns="0" anchor="t"/>
          <a:lstStyle/>
          <a:p>
            <a:pPr algn="l">
              <a:lnSpc>
                <a:spcPct val="95000"/>
              </a:lnSpc>
            </a:pPr>
            <a:r>
              <a:rPr sz="4400" b="0" i="0">
                <a:solidFill>
                  <a:srgbClr val="F4F1EA"/>
                </a:solidFill>
                <a:latin typeface="Georgia"/>
                <a:ea typeface="Georgia"/>
                <a:cs typeface="Georgia"/>
              </a:rPr>
              <a:t>Mission Control: one block, live.</a:t>
            </a:r>
          </a:p>
        </p:txBody>
      </p:sp>
      <p:pic>
        <p:nvPicPr>
          <p:cNvPr id="5" name="Picture 4" descr="mission-control-mobile.png"/>
          <p:cNvPicPr>
            <a:picLocks noChangeAspect="1"/>
          </p:cNvPicPr>
          <p:nvPr/>
        </p:nvPicPr>
        <p:blipFill>
          <a:blip r:embed="rId3"/>
          <a:srcRect b="74008"/>
          <a:stretch>
            <a:fillRect/>
          </a:stretch>
        </p:blipFill>
        <p:spPr>
          <a:xfrm>
            <a:off x="685800" y="1828800"/>
            <a:ext cx="7269480" cy="4089082"/>
          </a:xfrm>
          <a:prstGeom prst="rect">
            <a:avLst/>
          </a:prstGeom>
          <a:ln w="9525">
            <a:solidFill>
              <a:srgbClr val="34343A"/>
            </a:solidFill>
          </a:ln>
        </p:spPr>
      </p:pic>
      <p:sp>
        <p:nvSpPr>
          <p:cNvPr id="6" name="TextBox 5"/>
          <p:cNvSpPr txBox="1"/>
          <p:nvPr/>
        </p:nvSpPr>
        <p:spPr>
          <a:xfrm>
            <a:off x="685800" y="6009322"/>
            <a:ext cx="7269480" cy="274320"/>
          </a:xfrm>
          <a:prstGeom prst="rect">
            <a:avLst/>
          </a:prstGeom>
          <a:noFill/>
        </p:spPr>
        <p:txBody>
          <a:bodyPr wrap="square" lIns="0" rIns="0" tIns="0" bIns="0" anchor="t"/>
          <a:lstStyle/>
          <a:p>
            <a:pPr algn="l"/>
            <a:r>
              <a:rPr sz="950" b="0" i="0">
                <a:solidFill>
                  <a:srgbClr val="8A877F"/>
                </a:solidFill>
                <a:latin typeface="Arial"/>
                <a:ea typeface="Arial"/>
                <a:cs typeface="Arial"/>
              </a:rPr>
              <a:t>Live Mission Control · 2:30 PM PT · Sep 28, 2026</a:t>
            </a:r>
          </a:p>
        </p:txBody>
      </p:sp>
      <p:sp>
        <p:nvSpPr>
          <p:cNvPr id="7" name="TextBox 6"/>
          <p:cNvSpPr txBox="1"/>
          <p:nvPr/>
        </p:nvSpPr>
        <p:spPr>
          <a:xfrm>
            <a:off x="8366759" y="1810512"/>
            <a:ext cx="457200" cy="274320"/>
          </a:xfrm>
          <a:prstGeom prst="rect">
            <a:avLst/>
          </a:prstGeom>
          <a:noFill/>
        </p:spPr>
        <p:txBody>
          <a:bodyPr wrap="square" lIns="0" rIns="0" tIns="0" bIns="0" anchor="t"/>
          <a:lstStyle/>
          <a:p>
            <a:pPr algn="l"/>
            <a:r>
              <a:rPr sz="1600" b="0" i="1">
                <a:solidFill>
                  <a:srgbClr val="FF5B1F"/>
                </a:solidFill>
                <a:latin typeface="Georgia"/>
                <a:ea typeface="Georgia"/>
                <a:cs typeface="Georgia"/>
              </a:rPr>
              <a:t>01</a:t>
            </a:r>
          </a:p>
        </p:txBody>
      </p:sp>
      <p:sp>
        <p:nvSpPr>
          <p:cNvPr id="8" name="TextBox 7"/>
          <p:cNvSpPr txBox="1"/>
          <p:nvPr/>
        </p:nvSpPr>
        <p:spPr>
          <a:xfrm>
            <a:off x="8805672" y="1810512"/>
            <a:ext cx="2700223" cy="274320"/>
          </a:xfrm>
          <a:prstGeom prst="rect">
            <a:avLst/>
          </a:prstGeom>
          <a:noFill/>
        </p:spPr>
        <p:txBody>
          <a:bodyPr wrap="square" lIns="0" rIns="0" tIns="0" bIns="0" anchor="t"/>
          <a:lstStyle/>
          <a:p>
            <a:pPr algn="l"/>
            <a:r>
              <a:rPr sz="1500" b="1" i="0">
                <a:solidFill>
                  <a:srgbClr val="F4F1EA"/>
                </a:solidFill>
                <a:latin typeface="Arial"/>
                <a:ea typeface="Arial"/>
                <a:cs typeface="Arial"/>
              </a:rPr>
              <a:t>Map</a:t>
            </a:r>
          </a:p>
        </p:txBody>
      </p:sp>
      <p:sp>
        <p:nvSpPr>
          <p:cNvPr id="9" name="TextBox 8"/>
          <p:cNvSpPr txBox="1"/>
          <p:nvPr/>
        </p:nvSpPr>
        <p:spPr>
          <a:xfrm>
            <a:off x="8805672" y="2112264"/>
            <a:ext cx="2700223" cy="566928"/>
          </a:xfrm>
          <a:prstGeom prst="rect">
            <a:avLst/>
          </a:prstGeom>
          <a:noFill/>
        </p:spPr>
        <p:txBody>
          <a:bodyPr wrap="square" lIns="0" rIns="0" tIns="0" bIns="0" anchor="t"/>
          <a:lstStyle/>
          <a:p>
            <a:pPr algn="l">
              <a:lnSpc>
                <a:spcPct val="115000"/>
              </a:lnSpc>
            </a:pPr>
            <a:r>
              <a:rPr sz="1150" b="0" i="0">
                <a:solidFill>
                  <a:srgbClr val="8A877F"/>
                </a:solidFill>
                <a:latin typeface="Arial"/>
                <a:ea typeface="Arial"/>
                <a:cs typeface="Arial"/>
              </a:rPr>
              <a:t>Real businesses around 101 Townsend St, scouted live from OpenStreetMap.</a:t>
            </a:r>
          </a:p>
        </p:txBody>
      </p:sp>
      <p:sp>
        <p:nvSpPr>
          <p:cNvPr id="10" name="TextBox 9"/>
          <p:cNvSpPr txBox="1"/>
          <p:nvPr/>
        </p:nvSpPr>
        <p:spPr>
          <a:xfrm>
            <a:off x="8366759" y="2761488"/>
            <a:ext cx="457200" cy="274320"/>
          </a:xfrm>
          <a:prstGeom prst="rect">
            <a:avLst/>
          </a:prstGeom>
          <a:noFill/>
        </p:spPr>
        <p:txBody>
          <a:bodyPr wrap="square" lIns="0" rIns="0" tIns="0" bIns="0" anchor="t"/>
          <a:lstStyle/>
          <a:p>
            <a:pPr algn="l"/>
            <a:r>
              <a:rPr sz="1600" b="0" i="1">
                <a:solidFill>
                  <a:srgbClr val="FF5B1F"/>
                </a:solidFill>
                <a:latin typeface="Georgia"/>
                <a:ea typeface="Georgia"/>
                <a:cs typeface="Georgia"/>
              </a:rPr>
              <a:t>02</a:t>
            </a:r>
          </a:p>
        </p:txBody>
      </p:sp>
      <p:sp>
        <p:nvSpPr>
          <p:cNvPr id="11" name="TextBox 10"/>
          <p:cNvSpPr txBox="1"/>
          <p:nvPr/>
        </p:nvSpPr>
        <p:spPr>
          <a:xfrm>
            <a:off x="8805672" y="2761488"/>
            <a:ext cx="2700223" cy="274320"/>
          </a:xfrm>
          <a:prstGeom prst="rect">
            <a:avLst/>
          </a:prstGeom>
          <a:noFill/>
        </p:spPr>
        <p:txBody>
          <a:bodyPr wrap="square" lIns="0" rIns="0" tIns="0" bIns="0" anchor="t"/>
          <a:lstStyle/>
          <a:p>
            <a:pPr algn="l"/>
            <a:r>
              <a:rPr sz="1500" b="1" i="0">
                <a:solidFill>
                  <a:srgbClr val="F4F1EA"/>
                </a:solidFill>
                <a:latin typeface="Arial"/>
                <a:ea typeface="Arial"/>
                <a:cs typeface="Arial"/>
              </a:rPr>
              <a:t>Site cards</a:t>
            </a:r>
          </a:p>
        </p:txBody>
      </p:sp>
      <p:sp>
        <p:nvSpPr>
          <p:cNvPr id="12" name="TextBox 11"/>
          <p:cNvSpPr txBox="1"/>
          <p:nvPr/>
        </p:nvSpPr>
        <p:spPr>
          <a:xfrm>
            <a:off x="8805672" y="3063240"/>
            <a:ext cx="2700223" cy="566928"/>
          </a:xfrm>
          <a:prstGeom prst="rect">
            <a:avLst/>
          </a:prstGeom>
          <a:noFill/>
        </p:spPr>
        <p:txBody>
          <a:bodyPr wrap="square" lIns="0" rIns="0" tIns="0" bIns="0" anchor="t"/>
          <a:lstStyle/>
          <a:p>
            <a:pPr algn="l">
              <a:lnSpc>
                <a:spcPct val="115000"/>
              </a:lnSpc>
            </a:pPr>
            <a:r>
              <a:rPr sz="1150" b="0" i="0">
                <a:solidFill>
                  <a:srgbClr val="8A877F"/>
                </a:solidFill>
                <a:latin typeface="Arial"/>
                <a:ea typeface="Arial"/>
                <a:cs typeface="Arial"/>
              </a:rPr>
              <a:t>Every generated site with its hero, taste score, status and claim link.</a:t>
            </a:r>
          </a:p>
        </p:txBody>
      </p:sp>
      <p:sp>
        <p:nvSpPr>
          <p:cNvPr id="13" name="TextBox 12"/>
          <p:cNvSpPr txBox="1"/>
          <p:nvPr/>
        </p:nvSpPr>
        <p:spPr>
          <a:xfrm>
            <a:off x="8366759" y="3712464"/>
            <a:ext cx="457200" cy="274320"/>
          </a:xfrm>
          <a:prstGeom prst="rect">
            <a:avLst/>
          </a:prstGeom>
          <a:noFill/>
        </p:spPr>
        <p:txBody>
          <a:bodyPr wrap="square" lIns="0" rIns="0" tIns="0" bIns="0" anchor="t"/>
          <a:lstStyle/>
          <a:p>
            <a:pPr algn="l"/>
            <a:r>
              <a:rPr sz="1600" b="0" i="1">
                <a:solidFill>
                  <a:srgbClr val="FF5B1F"/>
                </a:solidFill>
                <a:latin typeface="Georgia"/>
                <a:ea typeface="Georgia"/>
                <a:cs typeface="Georgia"/>
              </a:rPr>
              <a:t>03</a:t>
            </a:r>
          </a:p>
        </p:txBody>
      </p:sp>
      <p:sp>
        <p:nvSpPr>
          <p:cNvPr id="14" name="TextBox 13"/>
          <p:cNvSpPr txBox="1"/>
          <p:nvPr/>
        </p:nvSpPr>
        <p:spPr>
          <a:xfrm>
            <a:off x="8805672" y="3712464"/>
            <a:ext cx="2700223" cy="274320"/>
          </a:xfrm>
          <a:prstGeom prst="rect">
            <a:avLst/>
          </a:prstGeom>
          <a:noFill/>
        </p:spPr>
        <p:txBody>
          <a:bodyPr wrap="square" lIns="0" rIns="0" tIns="0" bIns="0" anchor="t"/>
          <a:lstStyle/>
          <a:p>
            <a:pPr algn="l"/>
            <a:r>
              <a:rPr sz="1500" b="1" i="0">
                <a:solidFill>
                  <a:srgbClr val="F4F1EA"/>
                </a:solidFill>
                <a:latin typeface="Arial"/>
                <a:ea typeface="Arial"/>
                <a:cs typeface="Arial"/>
              </a:rPr>
              <a:t>Agent channel</a:t>
            </a:r>
          </a:p>
        </p:txBody>
      </p:sp>
      <p:sp>
        <p:nvSpPr>
          <p:cNvPr id="15" name="TextBox 14"/>
          <p:cNvSpPr txBox="1"/>
          <p:nvPr/>
        </p:nvSpPr>
        <p:spPr>
          <a:xfrm>
            <a:off x="8805672" y="4014216"/>
            <a:ext cx="2700223" cy="566928"/>
          </a:xfrm>
          <a:prstGeom prst="rect">
            <a:avLst/>
          </a:prstGeom>
          <a:noFill/>
        </p:spPr>
        <p:txBody>
          <a:bodyPr wrap="square" lIns="0" rIns="0" tIns="0" bIns="0" anchor="t"/>
          <a:lstStyle/>
          <a:p>
            <a:pPr algn="l">
              <a:lnSpc>
                <a:spcPct val="115000"/>
              </a:lnSpc>
            </a:pPr>
            <a:r>
              <a:rPr sz="1150" b="0" i="0">
                <a:solidFill>
                  <a:srgbClr val="8A877F"/>
                </a:solidFill>
                <a:latin typeface="Arial"/>
                <a:ea typeface="Arial"/>
                <a:cs typeface="Arial"/>
              </a:rPr>
              <a:t>Every decision, streamed over WebSocket as it happens.</a:t>
            </a:r>
          </a:p>
        </p:txBody>
      </p:sp>
      <p:sp>
        <p:nvSpPr>
          <p:cNvPr id="16" name="TextBox 15"/>
          <p:cNvSpPr txBox="1"/>
          <p:nvPr/>
        </p:nvSpPr>
        <p:spPr>
          <a:xfrm>
            <a:off x="8366759" y="4663440"/>
            <a:ext cx="457200" cy="274320"/>
          </a:xfrm>
          <a:prstGeom prst="rect">
            <a:avLst/>
          </a:prstGeom>
          <a:noFill/>
        </p:spPr>
        <p:txBody>
          <a:bodyPr wrap="square" lIns="0" rIns="0" tIns="0" bIns="0" anchor="t"/>
          <a:lstStyle/>
          <a:p>
            <a:pPr algn="l"/>
            <a:r>
              <a:rPr sz="1600" b="0" i="1">
                <a:solidFill>
                  <a:srgbClr val="FF5B1F"/>
                </a:solidFill>
                <a:latin typeface="Georgia"/>
                <a:ea typeface="Georgia"/>
                <a:cs typeface="Georgia"/>
              </a:rPr>
              <a:t>04</a:t>
            </a:r>
          </a:p>
        </p:txBody>
      </p:sp>
      <p:sp>
        <p:nvSpPr>
          <p:cNvPr id="17" name="TextBox 16"/>
          <p:cNvSpPr txBox="1"/>
          <p:nvPr/>
        </p:nvSpPr>
        <p:spPr>
          <a:xfrm>
            <a:off x="8805672" y="4663440"/>
            <a:ext cx="2700223" cy="274320"/>
          </a:xfrm>
          <a:prstGeom prst="rect">
            <a:avLst/>
          </a:prstGeom>
          <a:noFill/>
        </p:spPr>
        <p:txBody>
          <a:bodyPr wrap="square" lIns="0" rIns="0" tIns="0" bIns="0" anchor="t"/>
          <a:lstStyle/>
          <a:p>
            <a:pPr algn="l"/>
            <a:r>
              <a:rPr sz="1500" b="1" i="0">
                <a:solidFill>
                  <a:srgbClr val="F4F1EA"/>
                </a:solidFill>
                <a:latin typeface="Arial"/>
                <a:ea typeface="Arial"/>
                <a:cs typeface="Arial"/>
              </a:rPr>
              <a:t>Live challenge</a:t>
            </a:r>
          </a:p>
        </p:txBody>
      </p:sp>
      <p:sp>
        <p:nvSpPr>
          <p:cNvPr id="18" name="TextBox 17"/>
          <p:cNvSpPr txBox="1"/>
          <p:nvPr/>
        </p:nvSpPr>
        <p:spPr>
          <a:xfrm>
            <a:off x="8805672" y="4965192"/>
            <a:ext cx="2700223" cy="566928"/>
          </a:xfrm>
          <a:prstGeom prst="rect">
            <a:avLst/>
          </a:prstGeom>
          <a:noFill/>
        </p:spPr>
        <p:txBody>
          <a:bodyPr wrap="square" lIns="0" rIns="0" tIns="0" bIns="0" anchor="t"/>
          <a:lstStyle/>
          <a:p>
            <a:pPr algn="l">
              <a:lnSpc>
                <a:spcPct val="115000"/>
              </a:lnSpc>
            </a:pPr>
            <a:r>
              <a:rPr sz="1150" b="0" i="0">
                <a:solidFill>
                  <a:srgbClr val="8A877F"/>
                </a:solidFill>
                <a:latin typeface="Arial"/>
                <a:ea typeface="Arial"/>
                <a:cs typeface="Arial"/>
              </a:rPr>
              <a:t>Name any business — a speedrun split timer races the whole pipeline.</a:t>
            </a:r>
          </a:p>
        </p:txBody>
      </p:sp>
      <p:sp>
        <p:nvSpPr>
          <p:cNvPr id="19" name="Rounded Rectangle 18"/>
          <p:cNvSpPr/>
          <p:nvPr/>
        </p:nvSpPr>
        <p:spPr>
          <a:xfrm>
            <a:off x="8366759" y="5660136"/>
            <a:ext cx="3139135" cy="566928"/>
          </a:xfrm>
          <a:prstGeom prst="roundRect">
            <a:avLst>
              <a:gd name="adj" fmla="val 16129"/>
            </a:avLst>
          </a:prstGeom>
          <a:solidFill>
            <a:srgbClr val="121214"/>
          </a:solidFill>
          <a:ln w="9525">
            <a:solidFill>
              <a:srgbClr val="232327"/>
            </a:solidFill>
          </a:ln>
        </p:spPr>
        <p:txBody>
          <a:bodyPr rtlCol="0" anchor="ctr"/>
          <a:lstStyle/>
          <a:p/>
        </p:txBody>
      </p:sp>
      <p:sp>
        <p:nvSpPr>
          <p:cNvPr id="20" name="TextBox 19"/>
          <p:cNvSpPr txBox="1"/>
          <p:nvPr/>
        </p:nvSpPr>
        <p:spPr>
          <a:xfrm>
            <a:off x="8549639" y="5660136"/>
            <a:ext cx="1737360" cy="566928"/>
          </a:xfrm>
          <a:prstGeom prst="rect">
            <a:avLst/>
          </a:prstGeom>
          <a:noFill/>
        </p:spPr>
        <p:txBody>
          <a:bodyPr wrap="square" lIns="0" rIns="0" tIns="0" bIns="0" anchor="ctr"/>
          <a:lstStyle/>
          <a:p>
            <a:pPr algn="l"/>
            <a:r>
              <a:rPr sz="1050" b="0" i="0">
                <a:solidFill>
                  <a:srgbClr val="8A877F"/>
                </a:solidFill>
                <a:latin typeface="Arial"/>
                <a:ea typeface="Arial"/>
                <a:cs typeface="Arial"/>
              </a:rPr>
              <a:t>Fastest build today</a:t>
            </a:r>
          </a:p>
        </p:txBody>
      </p:sp>
      <p:sp>
        <p:nvSpPr>
          <p:cNvPr id="21" name="TextBox 20"/>
          <p:cNvSpPr txBox="1"/>
          <p:nvPr/>
        </p:nvSpPr>
        <p:spPr>
          <a:xfrm>
            <a:off x="10104119" y="5660136"/>
            <a:ext cx="1218895" cy="566928"/>
          </a:xfrm>
          <a:prstGeom prst="rect">
            <a:avLst/>
          </a:prstGeom>
          <a:noFill/>
        </p:spPr>
        <p:txBody>
          <a:bodyPr wrap="square" lIns="0" rIns="0" tIns="0" bIns="0" anchor="ctr"/>
          <a:lstStyle/>
          <a:p>
            <a:pPr algn="r"/>
            <a:r>
              <a:rPr sz="2200" b="0" i="0">
                <a:solidFill>
                  <a:srgbClr val="3DDC84"/>
                </a:solidFill>
                <a:latin typeface="Georgia"/>
                <a:ea typeface="Georgia"/>
                <a:cs typeface="Georgia"/>
              </a:rPr>
              <a:t>39s</a:t>
            </a:r>
          </a:p>
        </p:txBody>
      </p:sp>
      <p:sp>
        <p:nvSpPr>
          <p:cNvPr id="22" name="TextBox 21"/>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23" name="TextBox 22"/>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THE TEAM</a:t>
            </a:r>
          </a:p>
        </p:txBody>
      </p:sp>
      <p:sp>
        <p:nvSpPr>
          <p:cNvPr id="4" name="TextBox 3"/>
          <p:cNvSpPr txBox="1"/>
          <p:nvPr/>
        </p:nvSpPr>
        <p:spPr>
          <a:xfrm>
            <a:off x="685800" y="896112"/>
            <a:ext cx="10820095" cy="731520"/>
          </a:xfrm>
          <a:prstGeom prst="rect">
            <a:avLst/>
          </a:prstGeom>
          <a:noFill/>
        </p:spPr>
        <p:txBody>
          <a:bodyPr wrap="square" lIns="0" rIns="0" tIns="0" bIns="0" anchor="t"/>
          <a:lstStyle/>
          <a:p>
            <a:pPr algn="l">
              <a:lnSpc>
                <a:spcPct val="95000"/>
              </a:lnSpc>
            </a:pPr>
            <a:r>
              <a:rPr sz="4000" b="0" i="0">
                <a:solidFill>
                  <a:srgbClr val="F4F1EA"/>
                </a:solidFill>
                <a:latin typeface="Georgia"/>
                <a:ea typeface="Georgia"/>
                <a:cs typeface="Georgia"/>
              </a:rPr>
              <a:t>Six agents do the work. </a:t>
            </a:r>
            <a:r>
              <a:rPr sz="4000" b="0" i="1">
                <a:solidFill>
                  <a:srgbClr val="3DDC84"/>
                </a:solidFill>
                <a:latin typeface="Georgia"/>
                <a:ea typeface="Georgia"/>
                <a:cs typeface="Georgia"/>
              </a:rPr>
              <a:t>One counts the money.</a:t>
            </a:r>
          </a:p>
        </p:txBody>
      </p:sp>
      <p:sp>
        <p:nvSpPr>
          <p:cNvPr id="5" name="Rounded Rectangle 4"/>
          <p:cNvSpPr/>
          <p:nvPr/>
        </p:nvSpPr>
        <p:spPr>
          <a:xfrm>
            <a:off x="685800" y="2148840"/>
            <a:ext cx="1574749" cy="2514600"/>
          </a:xfrm>
          <a:prstGeom prst="roundRect">
            <a:avLst>
              <a:gd name="adj" fmla="val 6967"/>
            </a:avLst>
          </a:prstGeom>
          <a:solidFill>
            <a:srgbClr val="121214"/>
          </a:solidFill>
          <a:ln w="9525">
            <a:solidFill>
              <a:srgbClr val="232327"/>
            </a:solidFill>
          </a:ln>
        </p:spPr>
        <p:txBody>
          <a:bodyPr rtlCol="0" anchor="ctr"/>
          <a:lstStyle/>
          <a:p/>
        </p:txBody>
      </p:sp>
      <p:sp>
        <p:nvSpPr>
          <p:cNvPr id="6" name="Oval 5"/>
          <p:cNvSpPr/>
          <p:nvPr/>
        </p:nvSpPr>
        <p:spPr>
          <a:xfrm>
            <a:off x="914400" y="2377440"/>
            <a:ext cx="548640" cy="548640"/>
          </a:xfrm>
          <a:prstGeom prst="ellipse">
            <a:avLst/>
          </a:prstGeom>
          <a:solidFill>
            <a:srgbClr val="18181B"/>
          </a:solidFill>
          <a:ln w="15875">
            <a:solidFill>
              <a:srgbClr val="FF5B1F"/>
            </a:solidFill>
          </a:ln>
        </p:spPr>
        <p:txBody>
          <a:bodyPr rtlCol="0" anchor="ctr"/>
          <a:lstStyle/>
          <a:p/>
        </p:txBody>
      </p:sp>
      <p:sp>
        <p:nvSpPr>
          <p:cNvPr id="7" name="TextBox 6"/>
          <p:cNvSpPr txBox="1"/>
          <p:nvPr/>
        </p:nvSpPr>
        <p:spPr>
          <a:xfrm>
            <a:off x="914400" y="2377440"/>
            <a:ext cx="548640" cy="548640"/>
          </a:xfrm>
          <a:prstGeom prst="rect">
            <a:avLst/>
          </a:prstGeom>
          <a:noFill/>
        </p:spPr>
        <p:txBody>
          <a:bodyPr wrap="square" lIns="0" rIns="0" tIns="0" bIns="0" anchor="ctr"/>
          <a:lstStyle/>
          <a:p>
            <a:pPr algn="ctr"/>
            <a:r>
              <a:rPr sz="1200" b="1" i="0" spc="100">
                <a:solidFill>
                  <a:srgbClr val="FF5B1F"/>
                </a:solidFill>
                <a:latin typeface="Arial"/>
                <a:ea typeface="Arial"/>
                <a:cs typeface="Arial"/>
              </a:rPr>
              <a:t>Sc</a:t>
            </a:r>
          </a:p>
        </p:txBody>
      </p:sp>
      <p:sp>
        <p:nvSpPr>
          <p:cNvPr id="8" name="TextBox 7"/>
          <p:cNvSpPr txBox="1"/>
          <p:nvPr/>
        </p:nvSpPr>
        <p:spPr>
          <a:xfrm>
            <a:off x="914400" y="3081528"/>
            <a:ext cx="1208989" cy="384048"/>
          </a:xfrm>
          <a:prstGeom prst="rect">
            <a:avLst/>
          </a:prstGeom>
          <a:noFill/>
        </p:spPr>
        <p:txBody>
          <a:bodyPr wrap="square" lIns="0" rIns="0" tIns="0" bIns="0" anchor="t"/>
          <a:lstStyle/>
          <a:p>
            <a:pPr algn="l"/>
            <a:r>
              <a:rPr sz="2100" b="0" i="0">
                <a:solidFill>
                  <a:srgbClr val="F4F1EA"/>
                </a:solidFill>
                <a:latin typeface="Georgia"/>
                <a:ea typeface="Georgia"/>
                <a:cs typeface="Georgia"/>
              </a:rPr>
              <a:t>Scout</a:t>
            </a:r>
          </a:p>
        </p:txBody>
      </p:sp>
      <p:sp>
        <p:nvSpPr>
          <p:cNvPr id="9" name="TextBox 8"/>
          <p:cNvSpPr txBox="1"/>
          <p:nvPr/>
        </p:nvSpPr>
        <p:spPr>
          <a:xfrm>
            <a:off x="914400" y="3483864"/>
            <a:ext cx="1208989" cy="731520"/>
          </a:xfrm>
          <a:prstGeom prst="rect">
            <a:avLst/>
          </a:prstGeom>
          <a:noFill/>
        </p:spPr>
        <p:txBody>
          <a:bodyPr wrap="square" lIns="0" rIns="0" tIns="0" bIns="0" anchor="t"/>
          <a:lstStyle/>
          <a:p>
            <a:pPr algn="l">
              <a:lnSpc>
                <a:spcPct val="112000"/>
              </a:lnSpc>
            </a:pPr>
            <a:r>
              <a:rPr sz="1100" b="0" i="0">
                <a:solidFill>
                  <a:srgbClr val="8A877F"/>
                </a:solidFill>
                <a:latin typeface="Arial"/>
                <a:ea typeface="Arial"/>
                <a:cs typeface="Arial"/>
              </a:rPr>
              <a:t>Finds independent businesses on the block; skips chains.</a:t>
            </a:r>
          </a:p>
        </p:txBody>
      </p:sp>
      <p:sp>
        <p:nvSpPr>
          <p:cNvPr id="10" name="TextBox 9"/>
          <p:cNvSpPr txBox="1"/>
          <p:nvPr/>
        </p:nvSpPr>
        <p:spPr>
          <a:xfrm>
            <a:off x="914400" y="4279392"/>
            <a:ext cx="1254709" cy="228600"/>
          </a:xfrm>
          <a:prstGeom prst="rect">
            <a:avLst/>
          </a:prstGeom>
          <a:noFill/>
        </p:spPr>
        <p:txBody>
          <a:bodyPr wrap="square" lIns="0" rIns="0" tIns="0" bIns="0" anchor="t"/>
          <a:lstStyle/>
          <a:p>
            <a:pPr algn="l"/>
            <a:r>
              <a:rPr sz="850" b="1" i="0" spc="120">
                <a:solidFill>
                  <a:srgbClr val="FF5B1F"/>
                </a:solidFill>
                <a:latin typeface="Arial"/>
                <a:ea typeface="Arial"/>
                <a:cs typeface="Arial"/>
              </a:rPr>
              <a:t>OPENSTREETMAP</a:t>
            </a:r>
          </a:p>
        </p:txBody>
      </p:sp>
      <p:cxnSp>
        <p:nvCxnSpPr>
          <p:cNvPr id="11" name="Connector 10"/>
          <p:cNvCxnSpPr/>
          <p:nvPr/>
        </p:nvCxnSpPr>
        <p:spPr>
          <a:xfrm>
            <a:off x="2287981" y="2651760"/>
            <a:ext cx="219456" cy="0"/>
          </a:xfrm>
          <a:prstGeom prst="line">
            <a:avLst/>
          </a:prstGeom>
          <a:ln w="15875">
            <a:solidFill>
              <a:srgbClr val="5E5C57"/>
            </a:solidFill>
            <a:tailEnd type="triangle" w="med" len="med"/>
          </a:ln>
        </p:spPr>
      </p:cxnSp>
      <p:sp>
        <p:nvSpPr>
          <p:cNvPr id="12" name="Rounded Rectangle 11"/>
          <p:cNvSpPr/>
          <p:nvPr/>
        </p:nvSpPr>
        <p:spPr>
          <a:xfrm>
            <a:off x="2534869" y="2148840"/>
            <a:ext cx="1574749" cy="2514600"/>
          </a:xfrm>
          <a:prstGeom prst="roundRect">
            <a:avLst>
              <a:gd name="adj" fmla="val 6967"/>
            </a:avLst>
          </a:prstGeom>
          <a:solidFill>
            <a:srgbClr val="121214"/>
          </a:solidFill>
          <a:ln w="9525">
            <a:solidFill>
              <a:srgbClr val="232327"/>
            </a:solidFill>
          </a:ln>
        </p:spPr>
        <p:txBody>
          <a:bodyPr rtlCol="0" anchor="ctr"/>
          <a:lstStyle/>
          <a:p/>
        </p:txBody>
      </p:sp>
      <p:sp>
        <p:nvSpPr>
          <p:cNvPr id="13" name="Oval 12"/>
          <p:cNvSpPr/>
          <p:nvPr/>
        </p:nvSpPr>
        <p:spPr>
          <a:xfrm>
            <a:off x="2763469" y="2377440"/>
            <a:ext cx="548640" cy="548640"/>
          </a:xfrm>
          <a:prstGeom prst="ellipse">
            <a:avLst/>
          </a:prstGeom>
          <a:solidFill>
            <a:srgbClr val="18181B"/>
          </a:solidFill>
          <a:ln w="15875">
            <a:solidFill>
              <a:srgbClr val="B79CFF"/>
            </a:solidFill>
          </a:ln>
        </p:spPr>
        <p:txBody>
          <a:bodyPr rtlCol="0" anchor="ctr"/>
          <a:lstStyle/>
          <a:p/>
        </p:txBody>
      </p:sp>
      <p:sp>
        <p:nvSpPr>
          <p:cNvPr id="14" name="TextBox 13"/>
          <p:cNvSpPr txBox="1"/>
          <p:nvPr/>
        </p:nvSpPr>
        <p:spPr>
          <a:xfrm>
            <a:off x="2763469" y="2377440"/>
            <a:ext cx="548640" cy="548640"/>
          </a:xfrm>
          <a:prstGeom prst="rect">
            <a:avLst/>
          </a:prstGeom>
          <a:noFill/>
        </p:spPr>
        <p:txBody>
          <a:bodyPr wrap="square" lIns="0" rIns="0" tIns="0" bIns="0" anchor="ctr"/>
          <a:lstStyle/>
          <a:p>
            <a:pPr algn="ctr"/>
            <a:r>
              <a:rPr sz="1200" b="1" i="0" spc="100">
                <a:solidFill>
                  <a:srgbClr val="B79CFF"/>
                </a:solidFill>
                <a:latin typeface="Arial"/>
                <a:ea typeface="Arial"/>
                <a:cs typeface="Arial"/>
              </a:rPr>
              <a:t>Ar</a:t>
            </a:r>
          </a:p>
        </p:txBody>
      </p:sp>
      <p:sp>
        <p:nvSpPr>
          <p:cNvPr id="15" name="TextBox 14"/>
          <p:cNvSpPr txBox="1"/>
          <p:nvPr/>
        </p:nvSpPr>
        <p:spPr>
          <a:xfrm>
            <a:off x="2763469" y="3081528"/>
            <a:ext cx="1208989" cy="384048"/>
          </a:xfrm>
          <a:prstGeom prst="rect">
            <a:avLst/>
          </a:prstGeom>
          <a:noFill/>
        </p:spPr>
        <p:txBody>
          <a:bodyPr wrap="square" lIns="0" rIns="0" tIns="0" bIns="0" anchor="t"/>
          <a:lstStyle/>
          <a:p>
            <a:pPr algn="l"/>
            <a:r>
              <a:rPr sz="2100" b="0" i="0">
                <a:solidFill>
                  <a:srgbClr val="F4F1EA"/>
                </a:solidFill>
                <a:latin typeface="Georgia"/>
                <a:ea typeface="Georgia"/>
                <a:cs typeface="Georgia"/>
              </a:rPr>
              <a:t>Archivist</a:t>
            </a:r>
          </a:p>
        </p:txBody>
      </p:sp>
      <p:sp>
        <p:nvSpPr>
          <p:cNvPr id="16" name="TextBox 15"/>
          <p:cNvSpPr txBox="1"/>
          <p:nvPr/>
        </p:nvSpPr>
        <p:spPr>
          <a:xfrm>
            <a:off x="2763469" y="3483864"/>
            <a:ext cx="1208989" cy="731520"/>
          </a:xfrm>
          <a:prstGeom prst="rect">
            <a:avLst/>
          </a:prstGeom>
          <a:noFill/>
        </p:spPr>
        <p:txBody>
          <a:bodyPr wrap="square" lIns="0" rIns="0" tIns="0" bIns="0" anchor="t"/>
          <a:lstStyle/>
          <a:p>
            <a:pPr algn="l">
              <a:lnSpc>
                <a:spcPct val="112000"/>
              </a:lnSpc>
            </a:pPr>
            <a:r>
              <a:rPr sz="1100" b="0" i="0">
                <a:solidFill>
                  <a:srgbClr val="8A877F"/>
                </a:solidFill>
                <a:latin typeface="Arial"/>
                <a:ea typeface="Arial"/>
                <a:cs typeface="Arial"/>
              </a:rPr>
              <a:t>Reads their real website: colors, voice, offerings.</a:t>
            </a:r>
          </a:p>
        </p:txBody>
      </p:sp>
      <p:sp>
        <p:nvSpPr>
          <p:cNvPr id="17" name="TextBox 16"/>
          <p:cNvSpPr txBox="1"/>
          <p:nvPr/>
        </p:nvSpPr>
        <p:spPr>
          <a:xfrm>
            <a:off x="2763469" y="4279392"/>
            <a:ext cx="1254709" cy="228600"/>
          </a:xfrm>
          <a:prstGeom prst="rect">
            <a:avLst/>
          </a:prstGeom>
          <a:noFill/>
        </p:spPr>
        <p:txBody>
          <a:bodyPr wrap="square" lIns="0" rIns="0" tIns="0" bIns="0" anchor="t"/>
          <a:lstStyle/>
          <a:p>
            <a:pPr algn="l"/>
            <a:r>
              <a:rPr sz="850" b="1" i="0" spc="120">
                <a:solidFill>
                  <a:srgbClr val="B79CFF"/>
                </a:solidFill>
                <a:latin typeface="Arial"/>
                <a:ea typeface="Arial"/>
                <a:cs typeface="Arial"/>
              </a:rPr>
              <a:t>BRAND EXTRACTION</a:t>
            </a:r>
          </a:p>
        </p:txBody>
      </p:sp>
      <p:cxnSp>
        <p:nvCxnSpPr>
          <p:cNvPr id="18" name="Connector 17"/>
          <p:cNvCxnSpPr/>
          <p:nvPr/>
        </p:nvCxnSpPr>
        <p:spPr>
          <a:xfrm>
            <a:off x="4137050" y="2651760"/>
            <a:ext cx="219456" cy="0"/>
          </a:xfrm>
          <a:prstGeom prst="line">
            <a:avLst/>
          </a:prstGeom>
          <a:ln w="15875">
            <a:solidFill>
              <a:srgbClr val="5E5C57"/>
            </a:solidFill>
            <a:tailEnd type="triangle" w="med" len="med"/>
          </a:ln>
        </p:spPr>
      </p:cxnSp>
      <p:sp>
        <p:nvSpPr>
          <p:cNvPr id="19" name="Rounded Rectangle 18"/>
          <p:cNvSpPr/>
          <p:nvPr/>
        </p:nvSpPr>
        <p:spPr>
          <a:xfrm>
            <a:off x="4383938" y="2148840"/>
            <a:ext cx="1574749" cy="2514600"/>
          </a:xfrm>
          <a:prstGeom prst="roundRect">
            <a:avLst>
              <a:gd name="adj" fmla="val 6967"/>
            </a:avLst>
          </a:prstGeom>
          <a:solidFill>
            <a:srgbClr val="121214"/>
          </a:solidFill>
          <a:ln w="9525">
            <a:solidFill>
              <a:srgbClr val="232327"/>
            </a:solidFill>
          </a:ln>
        </p:spPr>
        <p:txBody>
          <a:bodyPr rtlCol="0" anchor="ctr"/>
          <a:lstStyle/>
          <a:p/>
        </p:txBody>
      </p:sp>
      <p:sp>
        <p:nvSpPr>
          <p:cNvPr id="20" name="Oval 19"/>
          <p:cNvSpPr/>
          <p:nvPr/>
        </p:nvSpPr>
        <p:spPr>
          <a:xfrm>
            <a:off x="4612538" y="2377440"/>
            <a:ext cx="548640" cy="548640"/>
          </a:xfrm>
          <a:prstGeom prst="ellipse">
            <a:avLst/>
          </a:prstGeom>
          <a:solidFill>
            <a:srgbClr val="18181B"/>
          </a:solidFill>
          <a:ln w="15875">
            <a:solidFill>
              <a:srgbClr val="5AA9FF"/>
            </a:solidFill>
          </a:ln>
        </p:spPr>
        <p:txBody>
          <a:bodyPr rtlCol="0" anchor="ctr"/>
          <a:lstStyle/>
          <a:p/>
        </p:txBody>
      </p:sp>
      <p:sp>
        <p:nvSpPr>
          <p:cNvPr id="21" name="TextBox 20"/>
          <p:cNvSpPr txBox="1"/>
          <p:nvPr/>
        </p:nvSpPr>
        <p:spPr>
          <a:xfrm>
            <a:off x="4612538" y="2377440"/>
            <a:ext cx="548640" cy="548640"/>
          </a:xfrm>
          <a:prstGeom prst="rect">
            <a:avLst/>
          </a:prstGeom>
          <a:noFill/>
        </p:spPr>
        <p:txBody>
          <a:bodyPr wrap="square" lIns="0" rIns="0" tIns="0" bIns="0" anchor="ctr"/>
          <a:lstStyle/>
          <a:p>
            <a:pPr algn="ctr"/>
            <a:r>
              <a:rPr sz="1200" b="1" i="0" spc="100">
                <a:solidFill>
                  <a:srgbClr val="5AA9FF"/>
                </a:solidFill>
                <a:latin typeface="Arial"/>
                <a:ea typeface="Arial"/>
                <a:cs typeface="Arial"/>
              </a:rPr>
              <a:t>Bu</a:t>
            </a:r>
          </a:p>
        </p:txBody>
      </p:sp>
      <p:sp>
        <p:nvSpPr>
          <p:cNvPr id="22" name="TextBox 21"/>
          <p:cNvSpPr txBox="1"/>
          <p:nvPr/>
        </p:nvSpPr>
        <p:spPr>
          <a:xfrm>
            <a:off x="4612538" y="3081528"/>
            <a:ext cx="1208989" cy="384048"/>
          </a:xfrm>
          <a:prstGeom prst="rect">
            <a:avLst/>
          </a:prstGeom>
          <a:noFill/>
        </p:spPr>
        <p:txBody>
          <a:bodyPr wrap="square" lIns="0" rIns="0" tIns="0" bIns="0" anchor="t"/>
          <a:lstStyle/>
          <a:p>
            <a:pPr algn="l"/>
            <a:r>
              <a:rPr sz="2100" b="0" i="0">
                <a:solidFill>
                  <a:srgbClr val="F4F1EA"/>
                </a:solidFill>
                <a:latin typeface="Georgia"/>
                <a:ea typeface="Georgia"/>
                <a:cs typeface="Georgia"/>
              </a:rPr>
              <a:t>Builder</a:t>
            </a:r>
          </a:p>
        </p:txBody>
      </p:sp>
      <p:sp>
        <p:nvSpPr>
          <p:cNvPr id="23" name="TextBox 22"/>
          <p:cNvSpPr txBox="1"/>
          <p:nvPr/>
        </p:nvSpPr>
        <p:spPr>
          <a:xfrm>
            <a:off x="4612538" y="3483864"/>
            <a:ext cx="1208989" cy="731520"/>
          </a:xfrm>
          <a:prstGeom prst="rect">
            <a:avLst/>
          </a:prstGeom>
          <a:noFill/>
        </p:spPr>
        <p:txBody>
          <a:bodyPr wrap="square" lIns="0" rIns="0" tIns="0" bIns="0" anchor="t"/>
          <a:lstStyle/>
          <a:p>
            <a:pPr algn="l">
              <a:lnSpc>
                <a:spcPct val="112000"/>
              </a:lnSpc>
            </a:pPr>
            <a:r>
              <a:rPr sz="1100" b="0" i="0">
                <a:solidFill>
                  <a:srgbClr val="8A877F"/>
                </a:solidFill>
                <a:latin typeface="Arial"/>
                <a:ea typeface="Arial"/>
                <a:cs typeface="Arial"/>
              </a:rPr>
              <a:t>Composes a full site from the brand kit.</a:t>
            </a:r>
          </a:p>
        </p:txBody>
      </p:sp>
      <p:sp>
        <p:nvSpPr>
          <p:cNvPr id="24" name="TextBox 23"/>
          <p:cNvSpPr txBox="1"/>
          <p:nvPr/>
        </p:nvSpPr>
        <p:spPr>
          <a:xfrm>
            <a:off x="4612538" y="4279392"/>
            <a:ext cx="1254709" cy="228600"/>
          </a:xfrm>
          <a:prstGeom prst="rect">
            <a:avLst/>
          </a:prstGeom>
          <a:noFill/>
        </p:spPr>
        <p:txBody>
          <a:bodyPr wrap="square" lIns="0" rIns="0" tIns="0" bIns="0" anchor="t"/>
          <a:lstStyle/>
          <a:p>
            <a:pPr algn="l"/>
            <a:r>
              <a:rPr sz="850" b="1" i="0" spc="120">
                <a:solidFill>
                  <a:srgbClr val="5AA9FF"/>
                </a:solidFill>
                <a:latin typeface="Arial"/>
                <a:ea typeface="Arial"/>
                <a:cs typeface="Arial"/>
              </a:rPr>
              <a:t>SITESPEC + THEME</a:t>
            </a:r>
          </a:p>
        </p:txBody>
      </p:sp>
      <p:cxnSp>
        <p:nvCxnSpPr>
          <p:cNvPr id="25" name="Connector 24"/>
          <p:cNvCxnSpPr/>
          <p:nvPr/>
        </p:nvCxnSpPr>
        <p:spPr>
          <a:xfrm>
            <a:off x="5986119" y="2560320"/>
            <a:ext cx="219456" cy="0"/>
          </a:xfrm>
          <a:prstGeom prst="line">
            <a:avLst/>
          </a:prstGeom>
          <a:ln w="19050">
            <a:solidFill>
              <a:srgbClr val="FFC247"/>
            </a:solidFill>
            <a:tailEnd type="triangle" w="med" len="med"/>
          </a:ln>
        </p:spPr>
      </p:cxnSp>
      <p:cxnSp>
        <p:nvCxnSpPr>
          <p:cNvPr id="26" name="Connector 25"/>
          <p:cNvCxnSpPr/>
          <p:nvPr/>
        </p:nvCxnSpPr>
        <p:spPr>
          <a:xfrm>
            <a:off x="5986119" y="2770632"/>
            <a:ext cx="219456" cy="0"/>
          </a:xfrm>
          <a:prstGeom prst="line">
            <a:avLst/>
          </a:prstGeom>
          <a:ln w="19050">
            <a:solidFill>
              <a:srgbClr val="FFC247"/>
            </a:solidFill>
            <a:headEnd type="triangle" w="med" len="med"/>
          </a:ln>
        </p:spPr>
      </p:cxnSp>
      <p:sp>
        <p:nvSpPr>
          <p:cNvPr id="27" name="Rounded Rectangle 26"/>
          <p:cNvSpPr/>
          <p:nvPr/>
        </p:nvSpPr>
        <p:spPr>
          <a:xfrm>
            <a:off x="6233007" y="2148840"/>
            <a:ext cx="1574749" cy="2514600"/>
          </a:xfrm>
          <a:prstGeom prst="roundRect">
            <a:avLst>
              <a:gd name="adj" fmla="val 6967"/>
            </a:avLst>
          </a:prstGeom>
          <a:solidFill>
            <a:srgbClr val="121214"/>
          </a:solidFill>
          <a:ln w="15875">
            <a:solidFill>
              <a:srgbClr val="FFC247"/>
            </a:solidFill>
          </a:ln>
        </p:spPr>
        <p:txBody>
          <a:bodyPr rtlCol="0" anchor="ctr"/>
          <a:lstStyle/>
          <a:p/>
        </p:txBody>
      </p:sp>
      <p:sp>
        <p:nvSpPr>
          <p:cNvPr id="28" name="Oval 27"/>
          <p:cNvSpPr/>
          <p:nvPr/>
        </p:nvSpPr>
        <p:spPr>
          <a:xfrm>
            <a:off x="6461607" y="2377440"/>
            <a:ext cx="548640" cy="548640"/>
          </a:xfrm>
          <a:prstGeom prst="ellipse">
            <a:avLst/>
          </a:prstGeom>
          <a:solidFill>
            <a:srgbClr val="FFC247"/>
          </a:solidFill>
          <a:ln w="15875">
            <a:solidFill>
              <a:srgbClr val="FFC247"/>
            </a:solidFill>
          </a:ln>
        </p:spPr>
        <p:txBody>
          <a:bodyPr rtlCol="0" anchor="ctr"/>
          <a:lstStyle/>
          <a:p/>
        </p:txBody>
      </p:sp>
      <p:sp>
        <p:nvSpPr>
          <p:cNvPr id="29" name="TextBox 28"/>
          <p:cNvSpPr txBox="1"/>
          <p:nvPr/>
        </p:nvSpPr>
        <p:spPr>
          <a:xfrm>
            <a:off x="6461607" y="2377440"/>
            <a:ext cx="548640" cy="548640"/>
          </a:xfrm>
          <a:prstGeom prst="rect">
            <a:avLst/>
          </a:prstGeom>
          <a:noFill/>
        </p:spPr>
        <p:txBody>
          <a:bodyPr wrap="square" lIns="0" rIns="0" tIns="0" bIns="0" anchor="ctr"/>
          <a:lstStyle/>
          <a:p>
            <a:pPr algn="ctr"/>
            <a:r>
              <a:rPr sz="1200" b="1" i="0" spc="100">
                <a:solidFill>
                  <a:srgbClr val="0A0A0B"/>
                </a:solidFill>
                <a:latin typeface="Arial"/>
                <a:ea typeface="Arial"/>
                <a:cs typeface="Arial"/>
              </a:rPr>
              <a:t>Cr</a:t>
            </a:r>
          </a:p>
        </p:txBody>
      </p:sp>
      <p:sp>
        <p:nvSpPr>
          <p:cNvPr id="30" name="TextBox 29"/>
          <p:cNvSpPr txBox="1"/>
          <p:nvPr/>
        </p:nvSpPr>
        <p:spPr>
          <a:xfrm>
            <a:off x="6461607" y="3081528"/>
            <a:ext cx="1208989" cy="384048"/>
          </a:xfrm>
          <a:prstGeom prst="rect">
            <a:avLst/>
          </a:prstGeom>
          <a:noFill/>
        </p:spPr>
        <p:txBody>
          <a:bodyPr wrap="square" lIns="0" rIns="0" tIns="0" bIns="0" anchor="t"/>
          <a:lstStyle/>
          <a:p>
            <a:pPr algn="l"/>
            <a:r>
              <a:rPr sz="2100" b="0" i="0">
                <a:solidFill>
                  <a:srgbClr val="F4F1EA"/>
                </a:solidFill>
                <a:latin typeface="Georgia"/>
                <a:ea typeface="Georgia"/>
                <a:cs typeface="Georgia"/>
              </a:rPr>
              <a:t>Critic</a:t>
            </a:r>
          </a:p>
        </p:txBody>
      </p:sp>
      <p:sp>
        <p:nvSpPr>
          <p:cNvPr id="31" name="TextBox 30"/>
          <p:cNvSpPr txBox="1"/>
          <p:nvPr/>
        </p:nvSpPr>
        <p:spPr>
          <a:xfrm>
            <a:off x="6461607" y="3483864"/>
            <a:ext cx="1208989" cy="731520"/>
          </a:xfrm>
          <a:prstGeom prst="rect">
            <a:avLst/>
          </a:prstGeom>
          <a:noFill/>
        </p:spPr>
        <p:txBody>
          <a:bodyPr wrap="square" lIns="0" rIns="0" tIns="0" bIns="0" anchor="t"/>
          <a:lstStyle/>
          <a:p>
            <a:pPr algn="l">
              <a:lnSpc>
                <a:spcPct val="112000"/>
              </a:lnSpc>
            </a:pPr>
            <a:r>
              <a:rPr sz="1100" b="0" i="0">
                <a:solidFill>
                  <a:srgbClr val="8A877F"/>
                </a:solidFill>
                <a:latin typeface="Arial"/>
                <a:ea typeface="Arial"/>
                <a:cs typeface="Arial"/>
              </a:rPr>
              <a:t>Scores taste, bans slop, sends notes back.</a:t>
            </a:r>
          </a:p>
        </p:txBody>
      </p:sp>
      <p:sp>
        <p:nvSpPr>
          <p:cNvPr id="32" name="TextBox 31"/>
          <p:cNvSpPr txBox="1"/>
          <p:nvPr/>
        </p:nvSpPr>
        <p:spPr>
          <a:xfrm>
            <a:off x="6461607" y="4279392"/>
            <a:ext cx="1254709" cy="228600"/>
          </a:xfrm>
          <a:prstGeom prst="rect">
            <a:avLst/>
          </a:prstGeom>
          <a:noFill/>
        </p:spPr>
        <p:txBody>
          <a:bodyPr wrap="square" lIns="0" rIns="0" tIns="0" bIns="0" anchor="t"/>
          <a:lstStyle/>
          <a:p>
            <a:pPr algn="l"/>
            <a:r>
              <a:rPr sz="850" b="1" i="0" spc="120">
                <a:solidFill>
                  <a:srgbClr val="FFC247"/>
                </a:solidFill>
                <a:latin typeface="Arial"/>
                <a:ea typeface="Arial"/>
                <a:cs typeface="Arial"/>
              </a:rPr>
              <a:t>GATE ≥ 85</a:t>
            </a:r>
          </a:p>
        </p:txBody>
      </p:sp>
      <p:cxnSp>
        <p:nvCxnSpPr>
          <p:cNvPr id="33" name="Connector 32"/>
          <p:cNvCxnSpPr/>
          <p:nvPr/>
        </p:nvCxnSpPr>
        <p:spPr>
          <a:xfrm>
            <a:off x="7835188" y="2651760"/>
            <a:ext cx="219456" cy="0"/>
          </a:xfrm>
          <a:prstGeom prst="line">
            <a:avLst/>
          </a:prstGeom>
          <a:ln w="15875">
            <a:solidFill>
              <a:srgbClr val="5E5C57"/>
            </a:solidFill>
            <a:tailEnd type="triangle" w="med" len="med"/>
          </a:ln>
        </p:spPr>
      </p:cxnSp>
      <p:sp>
        <p:nvSpPr>
          <p:cNvPr id="34" name="Rounded Rectangle 33"/>
          <p:cNvSpPr/>
          <p:nvPr/>
        </p:nvSpPr>
        <p:spPr>
          <a:xfrm>
            <a:off x="8082076" y="2148840"/>
            <a:ext cx="1574749" cy="2514600"/>
          </a:xfrm>
          <a:prstGeom prst="roundRect">
            <a:avLst>
              <a:gd name="adj" fmla="val 6967"/>
            </a:avLst>
          </a:prstGeom>
          <a:solidFill>
            <a:srgbClr val="121214"/>
          </a:solidFill>
          <a:ln w="9525">
            <a:solidFill>
              <a:srgbClr val="232327"/>
            </a:solidFill>
          </a:ln>
        </p:spPr>
        <p:txBody>
          <a:bodyPr rtlCol="0" anchor="ctr"/>
          <a:lstStyle/>
          <a:p/>
        </p:txBody>
      </p:sp>
      <p:sp>
        <p:nvSpPr>
          <p:cNvPr id="35" name="Oval 34"/>
          <p:cNvSpPr/>
          <p:nvPr/>
        </p:nvSpPr>
        <p:spPr>
          <a:xfrm>
            <a:off x="8310676" y="2377440"/>
            <a:ext cx="548640" cy="548640"/>
          </a:xfrm>
          <a:prstGeom prst="ellipse">
            <a:avLst/>
          </a:prstGeom>
          <a:solidFill>
            <a:srgbClr val="18181B"/>
          </a:solidFill>
          <a:ln w="15875">
            <a:solidFill>
              <a:srgbClr val="FF6FAE"/>
            </a:solidFill>
          </a:ln>
        </p:spPr>
        <p:txBody>
          <a:bodyPr rtlCol="0" anchor="ctr"/>
          <a:lstStyle/>
          <a:p/>
        </p:txBody>
      </p:sp>
      <p:sp>
        <p:nvSpPr>
          <p:cNvPr id="36" name="TextBox 35"/>
          <p:cNvSpPr txBox="1"/>
          <p:nvPr/>
        </p:nvSpPr>
        <p:spPr>
          <a:xfrm>
            <a:off x="8310676" y="2377440"/>
            <a:ext cx="548640" cy="548640"/>
          </a:xfrm>
          <a:prstGeom prst="rect">
            <a:avLst/>
          </a:prstGeom>
          <a:noFill/>
        </p:spPr>
        <p:txBody>
          <a:bodyPr wrap="square" lIns="0" rIns="0" tIns="0" bIns="0" anchor="ctr"/>
          <a:lstStyle/>
          <a:p>
            <a:pPr algn="ctr"/>
            <a:r>
              <a:rPr sz="1200" b="1" i="0" spc="100">
                <a:solidFill>
                  <a:srgbClr val="FF6FAE"/>
                </a:solidFill>
                <a:latin typeface="Arial"/>
                <a:ea typeface="Arial"/>
                <a:cs typeface="Arial"/>
              </a:rPr>
              <a:t>Di</a:t>
            </a:r>
          </a:p>
        </p:txBody>
      </p:sp>
      <p:sp>
        <p:nvSpPr>
          <p:cNvPr id="37" name="TextBox 36"/>
          <p:cNvSpPr txBox="1"/>
          <p:nvPr/>
        </p:nvSpPr>
        <p:spPr>
          <a:xfrm>
            <a:off x="8310676" y="3081528"/>
            <a:ext cx="1208989" cy="384048"/>
          </a:xfrm>
          <a:prstGeom prst="rect">
            <a:avLst/>
          </a:prstGeom>
          <a:noFill/>
        </p:spPr>
        <p:txBody>
          <a:bodyPr wrap="square" lIns="0" rIns="0" tIns="0" bIns="0" anchor="t"/>
          <a:lstStyle/>
          <a:p>
            <a:pPr algn="l"/>
            <a:r>
              <a:rPr sz="2100" b="0" i="0">
                <a:solidFill>
                  <a:srgbClr val="F4F1EA"/>
                </a:solidFill>
                <a:latin typeface="Georgia"/>
                <a:ea typeface="Georgia"/>
                <a:cs typeface="Georgia"/>
              </a:rPr>
              <a:t>Director</a:t>
            </a:r>
          </a:p>
        </p:txBody>
      </p:sp>
      <p:sp>
        <p:nvSpPr>
          <p:cNvPr id="38" name="TextBox 37"/>
          <p:cNvSpPr txBox="1"/>
          <p:nvPr/>
        </p:nvSpPr>
        <p:spPr>
          <a:xfrm>
            <a:off x="8310676" y="3483864"/>
            <a:ext cx="1208989" cy="731520"/>
          </a:xfrm>
          <a:prstGeom prst="rect">
            <a:avLst/>
          </a:prstGeom>
          <a:noFill/>
        </p:spPr>
        <p:txBody>
          <a:bodyPr wrap="square" lIns="0" rIns="0" tIns="0" bIns="0" anchor="t"/>
          <a:lstStyle/>
          <a:p>
            <a:pPr algn="l">
              <a:lnSpc>
                <a:spcPct val="112000"/>
              </a:lnSpc>
            </a:pPr>
            <a:r>
              <a:rPr sz="1100" b="0" i="0">
                <a:solidFill>
                  <a:srgbClr val="8A877F"/>
                </a:solidFill>
                <a:latin typeface="Arial"/>
                <a:ea typeface="Arial"/>
                <a:cs typeface="Arial"/>
              </a:rPr>
              <a:t>Directs the hero visual, optional video ad.</a:t>
            </a:r>
          </a:p>
        </p:txBody>
      </p:sp>
      <p:sp>
        <p:nvSpPr>
          <p:cNvPr id="39" name="TextBox 38"/>
          <p:cNvSpPr txBox="1"/>
          <p:nvPr/>
        </p:nvSpPr>
        <p:spPr>
          <a:xfrm>
            <a:off x="8310676" y="4279392"/>
            <a:ext cx="1254709" cy="228600"/>
          </a:xfrm>
          <a:prstGeom prst="rect">
            <a:avLst/>
          </a:prstGeom>
          <a:noFill/>
        </p:spPr>
        <p:txBody>
          <a:bodyPr wrap="square" lIns="0" rIns="0" tIns="0" bIns="0" anchor="t"/>
          <a:lstStyle/>
          <a:p>
            <a:pPr algn="l"/>
            <a:r>
              <a:rPr sz="850" b="1" i="0" spc="120">
                <a:solidFill>
                  <a:srgbClr val="FF6FAE"/>
                </a:solidFill>
                <a:latin typeface="Arial"/>
                <a:ea typeface="Arial"/>
                <a:cs typeface="Arial"/>
              </a:rPr>
              <a:t>FLUX · HIGGSFIELD</a:t>
            </a:r>
          </a:p>
        </p:txBody>
      </p:sp>
      <p:cxnSp>
        <p:nvCxnSpPr>
          <p:cNvPr id="40" name="Connector 39"/>
          <p:cNvCxnSpPr/>
          <p:nvPr/>
        </p:nvCxnSpPr>
        <p:spPr>
          <a:xfrm>
            <a:off x="9684258" y="2651760"/>
            <a:ext cx="219456" cy="0"/>
          </a:xfrm>
          <a:prstGeom prst="line">
            <a:avLst/>
          </a:prstGeom>
          <a:ln w="15875">
            <a:solidFill>
              <a:srgbClr val="5E5C57"/>
            </a:solidFill>
            <a:tailEnd type="triangle" w="med" len="med"/>
          </a:ln>
        </p:spPr>
      </p:cxnSp>
      <p:sp>
        <p:nvSpPr>
          <p:cNvPr id="41" name="Rounded Rectangle 40"/>
          <p:cNvSpPr/>
          <p:nvPr/>
        </p:nvSpPr>
        <p:spPr>
          <a:xfrm>
            <a:off x="9931146" y="2148840"/>
            <a:ext cx="1574749" cy="2514600"/>
          </a:xfrm>
          <a:prstGeom prst="roundRect">
            <a:avLst>
              <a:gd name="adj" fmla="val 6967"/>
            </a:avLst>
          </a:prstGeom>
          <a:solidFill>
            <a:srgbClr val="121214"/>
          </a:solidFill>
          <a:ln w="9525">
            <a:solidFill>
              <a:srgbClr val="232327"/>
            </a:solidFill>
          </a:ln>
        </p:spPr>
        <p:txBody>
          <a:bodyPr rtlCol="0" anchor="ctr"/>
          <a:lstStyle/>
          <a:p/>
        </p:txBody>
      </p:sp>
      <p:sp>
        <p:nvSpPr>
          <p:cNvPr id="42" name="Oval 41"/>
          <p:cNvSpPr/>
          <p:nvPr/>
        </p:nvSpPr>
        <p:spPr>
          <a:xfrm>
            <a:off x="10159746" y="2377440"/>
            <a:ext cx="548640" cy="548640"/>
          </a:xfrm>
          <a:prstGeom prst="ellipse">
            <a:avLst/>
          </a:prstGeom>
          <a:solidFill>
            <a:srgbClr val="18181B"/>
          </a:solidFill>
          <a:ln w="15875">
            <a:solidFill>
              <a:srgbClr val="3DDC84"/>
            </a:solidFill>
          </a:ln>
        </p:spPr>
        <p:txBody>
          <a:bodyPr rtlCol="0" anchor="ctr"/>
          <a:lstStyle/>
          <a:p/>
        </p:txBody>
      </p:sp>
      <p:sp>
        <p:nvSpPr>
          <p:cNvPr id="43" name="TextBox 42"/>
          <p:cNvSpPr txBox="1"/>
          <p:nvPr/>
        </p:nvSpPr>
        <p:spPr>
          <a:xfrm>
            <a:off x="10159746" y="2377440"/>
            <a:ext cx="548640" cy="548640"/>
          </a:xfrm>
          <a:prstGeom prst="rect">
            <a:avLst/>
          </a:prstGeom>
          <a:noFill/>
        </p:spPr>
        <p:txBody>
          <a:bodyPr wrap="square" lIns="0" rIns="0" tIns="0" bIns="0" anchor="ctr"/>
          <a:lstStyle/>
          <a:p>
            <a:pPr algn="ctr"/>
            <a:r>
              <a:rPr sz="1200" b="1" i="0" spc="100">
                <a:solidFill>
                  <a:srgbClr val="3DDC84"/>
                </a:solidFill>
                <a:latin typeface="Arial"/>
                <a:ea typeface="Arial"/>
                <a:cs typeface="Arial"/>
              </a:rPr>
              <a:t>Cl</a:t>
            </a:r>
          </a:p>
        </p:txBody>
      </p:sp>
      <p:sp>
        <p:nvSpPr>
          <p:cNvPr id="44" name="TextBox 43"/>
          <p:cNvSpPr txBox="1"/>
          <p:nvPr/>
        </p:nvSpPr>
        <p:spPr>
          <a:xfrm>
            <a:off x="10159746" y="3081528"/>
            <a:ext cx="1208989" cy="384048"/>
          </a:xfrm>
          <a:prstGeom prst="rect">
            <a:avLst/>
          </a:prstGeom>
          <a:noFill/>
        </p:spPr>
        <p:txBody>
          <a:bodyPr wrap="square" lIns="0" rIns="0" tIns="0" bIns="0" anchor="t"/>
          <a:lstStyle/>
          <a:p>
            <a:pPr algn="l"/>
            <a:r>
              <a:rPr sz="2100" b="0" i="0">
                <a:solidFill>
                  <a:srgbClr val="F4F1EA"/>
                </a:solidFill>
                <a:latin typeface="Georgia"/>
                <a:ea typeface="Georgia"/>
                <a:cs typeface="Georgia"/>
              </a:rPr>
              <a:t>Closer</a:t>
            </a:r>
          </a:p>
        </p:txBody>
      </p:sp>
      <p:sp>
        <p:nvSpPr>
          <p:cNvPr id="45" name="TextBox 44"/>
          <p:cNvSpPr txBox="1"/>
          <p:nvPr/>
        </p:nvSpPr>
        <p:spPr>
          <a:xfrm>
            <a:off x="10159746" y="3483864"/>
            <a:ext cx="1208989" cy="731520"/>
          </a:xfrm>
          <a:prstGeom prst="rect">
            <a:avLst/>
          </a:prstGeom>
          <a:noFill/>
        </p:spPr>
        <p:txBody>
          <a:bodyPr wrap="square" lIns="0" rIns="0" tIns="0" bIns="0" anchor="t"/>
          <a:lstStyle/>
          <a:p>
            <a:pPr algn="l">
              <a:lnSpc>
                <a:spcPct val="112000"/>
              </a:lnSpc>
            </a:pPr>
            <a:r>
              <a:rPr sz="1100" b="0" i="0">
                <a:solidFill>
                  <a:srgbClr val="8A877F"/>
                </a:solidFill>
                <a:latin typeface="Arial"/>
                <a:ea typeface="Arial"/>
                <a:cs typeface="Arial"/>
              </a:rPr>
              <a:t>Writes an honest pitch with a checkout link.</a:t>
            </a:r>
          </a:p>
        </p:txBody>
      </p:sp>
      <p:sp>
        <p:nvSpPr>
          <p:cNvPr id="46" name="TextBox 45"/>
          <p:cNvSpPr txBox="1"/>
          <p:nvPr/>
        </p:nvSpPr>
        <p:spPr>
          <a:xfrm>
            <a:off x="10159746" y="4279392"/>
            <a:ext cx="1254709" cy="228600"/>
          </a:xfrm>
          <a:prstGeom prst="rect">
            <a:avLst/>
          </a:prstGeom>
          <a:noFill/>
        </p:spPr>
        <p:txBody>
          <a:bodyPr wrap="square" lIns="0" rIns="0" tIns="0" bIns="0" anchor="t"/>
          <a:lstStyle/>
          <a:p>
            <a:pPr algn="l"/>
            <a:r>
              <a:rPr sz="850" b="1" i="0" spc="120">
                <a:solidFill>
                  <a:srgbClr val="3DDC84"/>
                </a:solidFill>
                <a:latin typeface="Arial"/>
                <a:ea typeface="Arial"/>
                <a:cs typeface="Arial"/>
              </a:rPr>
              <a:t>STRIPE</a:t>
            </a:r>
          </a:p>
        </p:txBody>
      </p:sp>
      <p:sp>
        <p:nvSpPr>
          <p:cNvPr id="47" name="TextBox 46"/>
          <p:cNvSpPr txBox="1"/>
          <p:nvPr/>
        </p:nvSpPr>
        <p:spPr>
          <a:xfrm>
            <a:off x="5410047" y="1819656"/>
            <a:ext cx="1371600" cy="256032"/>
          </a:xfrm>
          <a:prstGeom prst="rect">
            <a:avLst/>
          </a:prstGeom>
          <a:noFill/>
        </p:spPr>
        <p:txBody>
          <a:bodyPr wrap="square" lIns="0" rIns="0" tIns="0" bIns="0" anchor="t"/>
          <a:lstStyle/>
          <a:p>
            <a:pPr algn="ctr"/>
            <a:r>
              <a:rPr sz="1000" b="1" i="0">
                <a:solidFill>
                  <a:srgbClr val="FFC247"/>
                </a:solidFill>
                <a:latin typeface="Arial"/>
                <a:ea typeface="Arial"/>
                <a:cs typeface="Arial"/>
              </a:rPr>
              <a:t>↻ until score ≥ 85</a:t>
            </a:r>
          </a:p>
        </p:txBody>
      </p:sp>
      <p:sp>
        <p:nvSpPr>
          <p:cNvPr id="48" name="Rounded Rectangle 47"/>
          <p:cNvSpPr/>
          <p:nvPr/>
        </p:nvSpPr>
        <p:spPr>
          <a:xfrm>
            <a:off x="685800" y="4983480"/>
            <a:ext cx="10820095" cy="868680"/>
          </a:xfrm>
          <a:prstGeom prst="roundRect">
            <a:avLst>
              <a:gd name="adj" fmla="val 12631"/>
            </a:avLst>
          </a:prstGeom>
          <a:solidFill>
            <a:srgbClr val="121214"/>
          </a:solidFill>
          <a:ln w="9525">
            <a:solidFill>
              <a:srgbClr val="232327"/>
            </a:solidFill>
          </a:ln>
        </p:spPr>
        <p:txBody>
          <a:bodyPr rtlCol="0" anchor="ctr"/>
          <a:lstStyle/>
          <a:p/>
        </p:txBody>
      </p:sp>
      <p:sp>
        <p:nvSpPr>
          <p:cNvPr id="49" name="Oval 48"/>
          <p:cNvSpPr/>
          <p:nvPr/>
        </p:nvSpPr>
        <p:spPr>
          <a:xfrm>
            <a:off x="932688" y="5161788"/>
            <a:ext cx="512064" cy="512064"/>
          </a:xfrm>
          <a:prstGeom prst="ellipse">
            <a:avLst/>
          </a:prstGeom>
          <a:solidFill>
            <a:srgbClr val="18181B"/>
          </a:solidFill>
          <a:ln w="15875">
            <a:solidFill>
              <a:srgbClr val="7CE0D3"/>
            </a:solidFill>
          </a:ln>
        </p:spPr>
        <p:txBody>
          <a:bodyPr rtlCol="0" anchor="ctr"/>
          <a:lstStyle/>
          <a:p/>
        </p:txBody>
      </p:sp>
      <p:sp>
        <p:nvSpPr>
          <p:cNvPr id="50" name="TextBox 49"/>
          <p:cNvSpPr txBox="1"/>
          <p:nvPr/>
        </p:nvSpPr>
        <p:spPr>
          <a:xfrm>
            <a:off x="932688" y="5161788"/>
            <a:ext cx="512064" cy="512064"/>
          </a:xfrm>
          <a:prstGeom prst="rect">
            <a:avLst/>
          </a:prstGeom>
          <a:noFill/>
        </p:spPr>
        <p:txBody>
          <a:bodyPr wrap="square" lIns="0" rIns="0" tIns="0" bIns="0" anchor="ctr"/>
          <a:lstStyle/>
          <a:p>
            <a:pPr algn="ctr"/>
            <a:r>
              <a:rPr sz="1100" b="1" i="0" spc="100">
                <a:solidFill>
                  <a:srgbClr val="7CE0D3"/>
                </a:solidFill>
                <a:latin typeface="Arial"/>
                <a:ea typeface="Arial"/>
                <a:cs typeface="Arial"/>
              </a:rPr>
              <a:t>CF</a:t>
            </a:r>
          </a:p>
        </p:txBody>
      </p:sp>
      <p:sp>
        <p:nvSpPr>
          <p:cNvPr id="51" name="TextBox 50"/>
          <p:cNvSpPr txBox="1"/>
          <p:nvPr/>
        </p:nvSpPr>
        <p:spPr>
          <a:xfrm>
            <a:off x="1645920" y="5093208"/>
            <a:ext cx="6949440" cy="320040"/>
          </a:xfrm>
          <a:prstGeom prst="rect">
            <a:avLst/>
          </a:prstGeom>
          <a:noFill/>
        </p:spPr>
        <p:txBody>
          <a:bodyPr wrap="square" lIns="0" rIns="0" tIns="0" bIns="0" anchor="t"/>
          <a:lstStyle/>
          <a:p>
            <a:pPr algn="l"/>
            <a:r>
              <a:rPr sz="1800" b="0" i="0">
                <a:solidFill>
                  <a:srgbClr val="F4F1EA"/>
                </a:solidFill>
                <a:latin typeface="Georgia"/>
                <a:ea typeface="Georgia"/>
                <a:cs typeface="Georgia"/>
              </a:rPr>
              <a:t>CFO</a:t>
            </a:r>
          </a:p>
        </p:txBody>
      </p:sp>
      <p:sp>
        <p:nvSpPr>
          <p:cNvPr id="52" name="TextBox 51"/>
          <p:cNvSpPr txBox="1"/>
          <p:nvPr/>
        </p:nvSpPr>
        <p:spPr>
          <a:xfrm>
            <a:off x="1645920" y="5422392"/>
            <a:ext cx="7132320" cy="320040"/>
          </a:xfrm>
          <a:prstGeom prst="rect">
            <a:avLst/>
          </a:prstGeom>
          <a:noFill/>
        </p:spPr>
        <p:txBody>
          <a:bodyPr wrap="square" lIns="0" rIns="0" tIns="0" bIns="0" anchor="t"/>
          <a:lstStyle/>
          <a:p>
            <a:pPr algn="l"/>
            <a:r>
              <a:rPr sz="1150" b="0" i="0">
                <a:solidFill>
                  <a:srgbClr val="8A877F"/>
                </a:solidFill>
                <a:latin typeface="Arial"/>
                <a:ea typeface="Arial"/>
                <a:cs typeface="Arial"/>
              </a:rPr>
              <a:t>Prices every model call and image, and tracks spend against revenue in real time.</a:t>
            </a:r>
          </a:p>
        </p:txBody>
      </p:sp>
      <p:sp>
        <p:nvSpPr>
          <p:cNvPr id="53" name="TextBox 52"/>
          <p:cNvSpPr txBox="1"/>
          <p:nvPr/>
        </p:nvSpPr>
        <p:spPr>
          <a:xfrm>
            <a:off x="7939735" y="4983480"/>
            <a:ext cx="3337560" cy="868680"/>
          </a:xfrm>
          <a:prstGeom prst="rect">
            <a:avLst/>
          </a:prstGeom>
          <a:noFill/>
        </p:spPr>
        <p:txBody>
          <a:bodyPr wrap="square" lIns="0" rIns="0" tIns="0" bIns="0" anchor="ctr"/>
          <a:lstStyle/>
          <a:p>
            <a:pPr algn="r"/>
            <a:r>
              <a:rPr sz="1100" b="0" i="0">
                <a:solidFill>
                  <a:srgbClr val="8A877F"/>
                </a:solidFill>
                <a:latin typeface="Georgia"/>
                <a:ea typeface="Georgia"/>
                <a:cs typeface="Georgia"/>
              </a:rPr>
              <a:t>spend </a:t>
            </a:r>
            <a:r>
              <a:rPr sz="2000" b="0" i="0">
                <a:solidFill>
                  <a:srgbClr val="F4F1EA"/>
                </a:solidFill>
                <a:latin typeface="Georgia"/>
                <a:ea typeface="Georgia"/>
                <a:cs typeface="Georgia"/>
              </a:rPr>
              <a:t>85.7¢</a:t>
            </a:r>
            <a:r>
              <a:rPr sz="1100" b="0" i="0">
                <a:solidFill>
                  <a:srgbClr val="8A877F"/>
                </a:solidFill>
                <a:latin typeface="Georgia"/>
                <a:ea typeface="Georgia"/>
                <a:cs typeface="Georgia"/>
              </a:rPr>
              <a:t>   revenue </a:t>
            </a:r>
            <a:r>
              <a:rPr sz="2000" b="0" i="0">
                <a:solidFill>
                  <a:srgbClr val="3DDC84"/>
                </a:solidFill>
                <a:latin typeface="Georgia"/>
                <a:ea typeface="Georgia"/>
                <a:cs typeface="Georgia"/>
              </a:rPr>
              <a:t>$0</a:t>
            </a:r>
          </a:p>
        </p:txBody>
      </p:sp>
      <p:sp>
        <p:nvSpPr>
          <p:cNvPr id="54" name="TextBox 53"/>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55" name="TextBox 54"/>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THE TASTE GATE</a:t>
            </a:r>
          </a:p>
        </p:txBody>
      </p:sp>
      <p:sp>
        <p:nvSpPr>
          <p:cNvPr id="4" name="TextBox 3"/>
          <p:cNvSpPr txBox="1"/>
          <p:nvPr/>
        </p:nvSpPr>
        <p:spPr>
          <a:xfrm>
            <a:off x="685800" y="896112"/>
            <a:ext cx="10820095" cy="914400"/>
          </a:xfrm>
          <a:prstGeom prst="rect">
            <a:avLst/>
          </a:prstGeom>
          <a:noFill/>
        </p:spPr>
        <p:txBody>
          <a:bodyPr wrap="square" lIns="0" rIns="0" tIns="0" bIns="0" anchor="t"/>
          <a:lstStyle/>
          <a:p>
            <a:pPr algn="l">
              <a:lnSpc>
                <a:spcPct val="95000"/>
              </a:lnSpc>
            </a:pPr>
            <a:r>
              <a:rPr sz="5200" b="0" i="0">
                <a:solidFill>
                  <a:srgbClr val="F4F1EA"/>
                </a:solidFill>
                <a:latin typeface="Georgia"/>
                <a:ea typeface="Georgia"/>
                <a:cs typeface="Georgia"/>
              </a:rPr>
              <a:t>Nothing ships under </a:t>
            </a:r>
            <a:r>
              <a:rPr sz="5200" b="0" i="1">
                <a:solidFill>
                  <a:srgbClr val="FF5B1F"/>
                </a:solidFill>
                <a:latin typeface="Georgia"/>
                <a:ea typeface="Georgia"/>
                <a:cs typeface="Georgia"/>
              </a:rPr>
              <a:t>85</a:t>
            </a:r>
            <a:r>
              <a:rPr sz="5200" b="0" i="0">
                <a:solidFill>
                  <a:srgbClr val="F4F1EA"/>
                </a:solidFill>
                <a:latin typeface="Georgia"/>
                <a:ea typeface="Georgia"/>
                <a:cs typeface="Georgia"/>
              </a:rPr>
              <a:t>.</a:t>
            </a:r>
          </a:p>
        </p:txBody>
      </p:sp>
      <p:sp>
        <p:nvSpPr>
          <p:cNvPr id="5" name="Rounded Rectangle 4"/>
          <p:cNvSpPr/>
          <p:nvPr/>
        </p:nvSpPr>
        <p:spPr>
          <a:xfrm>
            <a:off x="685800" y="2011680"/>
            <a:ext cx="6720840" cy="3977639"/>
          </a:xfrm>
          <a:prstGeom prst="roundRect">
            <a:avLst>
              <a:gd name="adj" fmla="val 2758"/>
            </a:avLst>
          </a:prstGeom>
          <a:solidFill>
            <a:srgbClr val="121214"/>
          </a:solidFill>
          <a:ln w="9525">
            <a:solidFill>
              <a:srgbClr val="232327"/>
            </a:solidFill>
          </a:ln>
        </p:spPr>
        <p:txBody>
          <a:bodyPr rtlCol="0" anchor="ctr"/>
          <a:lstStyle/>
          <a:p/>
        </p:txBody>
      </p:sp>
      <p:sp>
        <p:nvSpPr>
          <p:cNvPr id="6" name="TextBox 5"/>
          <p:cNvSpPr txBox="1"/>
          <p:nvPr/>
        </p:nvSpPr>
        <p:spPr>
          <a:xfrm>
            <a:off x="960120" y="2212848"/>
            <a:ext cx="6172200" cy="274320"/>
          </a:xfrm>
          <a:prstGeom prst="rect">
            <a:avLst/>
          </a:prstGeom>
          <a:noFill/>
        </p:spPr>
        <p:txBody>
          <a:bodyPr wrap="square" lIns="0" rIns="0" tIns="0" bIns="0" anchor="t"/>
          <a:lstStyle/>
          <a:p>
            <a:pPr algn="l"/>
            <a:r>
              <a:rPr sz="1050" b="1" i="0" spc="150">
                <a:solidFill>
                  <a:srgbClr val="8A877F"/>
                </a:solidFill>
                <a:latin typeface="Arial"/>
                <a:ea typeface="Arial"/>
                <a:cs typeface="Arial"/>
              </a:rPr>
              <a:t>SELF-IMPROVEMENT · TRES</a:t>
            </a:r>
          </a:p>
        </p:txBody>
      </p:sp>
      <p:graphicFrame>
        <p:nvGraphicFramePr>
          <p:cNvPr id="7" name="Chart 6"/>
          <p:cNvGraphicFramePr>
            <a:graphicFrameLocks noGrp="1"/>
          </p:cNvGraphicFramePr>
          <p:nvPr/>
        </p:nvGraphicFramePr>
        <p:xfrm>
          <a:off x="822960" y="2560320"/>
          <a:ext cx="6400800" cy="3017520"/>
        </p:xfrm>
        <a:graphic>
          <a:graphicData uri="http://schemas.openxmlformats.org/drawingml/2006/chart">
            <c:chart xmlns:c="http://schemas.openxmlformats.org/drawingml/2006/chart" r:id="rId3"/>
          </a:graphicData>
        </a:graphic>
      </p:graphicFrame>
      <p:sp>
        <p:nvSpPr>
          <p:cNvPr id="8" name="TextBox 7"/>
          <p:cNvSpPr txBox="1"/>
          <p:nvPr/>
        </p:nvSpPr>
        <p:spPr>
          <a:xfrm>
            <a:off x="5669279" y="2212848"/>
            <a:ext cx="1463040" cy="274320"/>
          </a:xfrm>
          <a:prstGeom prst="rect">
            <a:avLst/>
          </a:prstGeom>
          <a:noFill/>
        </p:spPr>
        <p:txBody>
          <a:bodyPr wrap="square" lIns="0" rIns="0" tIns="0" bIns="0" anchor="t"/>
          <a:lstStyle/>
          <a:p>
            <a:pPr algn="r"/>
            <a:r>
              <a:rPr sz="1000" b="1" i="0">
                <a:solidFill>
                  <a:srgbClr val="3DDC84"/>
                </a:solidFill>
                <a:latin typeface="Arial"/>
                <a:ea typeface="Arial"/>
                <a:cs typeface="Arial"/>
              </a:rPr>
              <a:t>- - </a:t>
            </a:r>
            <a:r>
              <a:rPr sz="1000" b="0" i="0">
                <a:solidFill>
                  <a:srgbClr val="8A877F"/>
                </a:solidFill>
                <a:latin typeface="Arial"/>
                <a:ea typeface="Arial"/>
                <a:cs typeface="Arial"/>
              </a:rPr>
              <a:t>gate 85</a:t>
            </a:r>
          </a:p>
        </p:txBody>
      </p:sp>
      <p:sp>
        <p:nvSpPr>
          <p:cNvPr id="9" name="TextBox 8"/>
          <p:cNvSpPr txBox="1"/>
          <p:nvPr/>
        </p:nvSpPr>
        <p:spPr>
          <a:xfrm>
            <a:off x="7818119" y="1883664"/>
            <a:ext cx="3687775" cy="1005840"/>
          </a:xfrm>
          <a:prstGeom prst="rect">
            <a:avLst/>
          </a:prstGeom>
          <a:noFill/>
        </p:spPr>
        <p:txBody>
          <a:bodyPr wrap="square" lIns="0" rIns="0" tIns="0" bIns="0" anchor="t"/>
          <a:lstStyle/>
          <a:p>
            <a:pPr algn="l"/>
            <a:r>
              <a:rPr sz="6600" b="0" i="0">
                <a:solidFill>
                  <a:srgbClr val="3DDC84"/>
                </a:solidFill>
                <a:latin typeface="Georgia"/>
                <a:ea typeface="Georgia"/>
                <a:cs typeface="Georgia"/>
              </a:rPr>
              <a:t>+57</a:t>
            </a:r>
          </a:p>
        </p:txBody>
      </p:sp>
      <p:sp>
        <p:nvSpPr>
          <p:cNvPr id="10" name="TextBox 9"/>
          <p:cNvSpPr txBox="1"/>
          <p:nvPr/>
        </p:nvSpPr>
        <p:spPr>
          <a:xfrm>
            <a:off x="7818119" y="2926080"/>
            <a:ext cx="3687775" cy="457200"/>
          </a:xfrm>
          <a:prstGeom prst="rect">
            <a:avLst/>
          </a:prstGeom>
          <a:noFill/>
        </p:spPr>
        <p:txBody>
          <a:bodyPr wrap="square" lIns="0" rIns="0" tIns="0" bIns="0" anchor="t"/>
          <a:lstStyle/>
          <a:p>
            <a:pPr algn="l">
              <a:lnSpc>
                <a:spcPct val="115000"/>
              </a:lnSpc>
            </a:pPr>
            <a:r>
              <a:rPr sz="1200" b="0" i="0">
                <a:solidFill>
                  <a:srgbClr val="8A877F"/>
                </a:solidFill>
                <a:latin typeface="Arial"/>
                <a:ea typeface="Arial"/>
                <a:cs typeface="Arial"/>
              </a:rPr>
              <a:t>points from v1 to v3 — the Critic's notes, applied by the Builder</a:t>
            </a:r>
          </a:p>
        </p:txBody>
      </p:sp>
      <p:sp>
        <p:nvSpPr>
          <p:cNvPr id="11" name="TextBox 10"/>
          <p:cNvSpPr txBox="1"/>
          <p:nvPr/>
        </p:nvSpPr>
        <p:spPr>
          <a:xfrm>
            <a:off x="7818119" y="3529584"/>
            <a:ext cx="3687775" cy="274320"/>
          </a:xfrm>
          <a:prstGeom prst="rect">
            <a:avLst/>
          </a:prstGeom>
          <a:noFill/>
        </p:spPr>
        <p:txBody>
          <a:bodyPr wrap="square" lIns="0" rIns="0" tIns="0" bIns="0" anchor="t"/>
          <a:lstStyle/>
          <a:p>
            <a:pPr algn="l"/>
            <a:r>
              <a:rPr sz="1000" b="1" i="0" spc="250">
                <a:solidFill>
                  <a:srgbClr val="FF5B1F"/>
                </a:solidFill>
                <a:latin typeface="Arial"/>
                <a:ea typeface="Arial"/>
                <a:cs typeface="Arial"/>
              </a:rPr>
              <a:t>BANNED SLOP · 1 CAUGHT TODAY</a:t>
            </a:r>
          </a:p>
        </p:txBody>
      </p:sp>
      <p:sp>
        <p:nvSpPr>
          <p:cNvPr id="12" name="Rounded Rectangle 11"/>
          <p:cNvSpPr/>
          <p:nvPr/>
        </p:nvSpPr>
        <p:spPr>
          <a:xfrm>
            <a:off x="7818119" y="3858768"/>
            <a:ext cx="823912" cy="310896"/>
          </a:xfrm>
          <a:prstGeom prst="roundRect">
            <a:avLst>
              <a:gd name="adj" fmla="val 50000"/>
            </a:avLst>
          </a:prstGeom>
          <a:solidFill>
            <a:srgbClr val="18181B"/>
          </a:solidFill>
          <a:ln w="9525">
            <a:solidFill>
              <a:srgbClr val="34343A"/>
            </a:solidFill>
          </a:ln>
        </p:spPr>
        <p:txBody>
          <a:bodyPr rtlCol="0" anchor="ctr"/>
          <a:lstStyle/>
          <a:p/>
        </p:txBody>
      </p:sp>
      <p:sp>
        <p:nvSpPr>
          <p:cNvPr id="13" name="TextBox 12"/>
          <p:cNvSpPr txBox="1"/>
          <p:nvPr/>
        </p:nvSpPr>
        <p:spPr>
          <a:xfrm>
            <a:off x="7982711" y="3858768"/>
            <a:ext cx="540448" cy="310896"/>
          </a:xfrm>
          <a:prstGeom prst="rect">
            <a:avLst/>
          </a:prstGeom>
          <a:noFill/>
        </p:spPr>
        <p:txBody>
          <a:bodyPr wrap="none" lIns="0" rIns="0" tIns="0" bIns="0" anchor="ctr"/>
          <a:lstStyle/>
          <a:p>
            <a:pPr algn="l"/>
            <a:r>
              <a:rPr sz="1050" b="0" i="0" strike="sngStrike">
                <a:solidFill>
                  <a:srgbClr val="8A877F"/>
                </a:solidFill>
                <a:latin typeface="Arial"/>
                <a:ea typeface="Arial"/>
                <a:cs typeface="Arial"/>
              </a:rPr>
              <a:t>gourmet</a:t>
            </a:r>
          </a:p>
        </p:txBody>
      </p:sp>
      <p:sp>
        <p:nvSpPr>
          <p:cNvPr id="14" name="Rounded Rectangle 13"/>
          <p:cNvSpPr/>
          <p:nvPr/>
        </p:nvSpPr>
        <p:spPr>
          <a:xfrm>
            <a:off x="8733472" y="3858768"/>
            <a:ext cx="823912" cy="310896"/>
          </a:xfrm>
          <a:prstGeom prst="roundRect">
            <a:avLst>
              <a:gd name="adj" fmla="val 50000"/>
            </a:avLst>
          </a:prstGeom>
          <a:solidFill>
            <a:srgbClr val="18181B"/>
          </a:solidFill>
          <a:ln w="9525">
            <a:solidFill>
              <a:srgbClr val="34343A"/>
            </a:solidFill>
          </a:ln>
        </p:spPr>
        <p:txBody>
          <a:bodyPr rtlCol="0" anchor="ctr"/>
          <a:lstStyle/>
          <a:p/>
        </p:txBody>
      </p:sp>
      <p:sp>
        <p:nvSpPr>
          <p:cNvPr id="15" name="TextBox 14"/>
          <p:cNvSpPr txBox="1"/>
          <p:nvPr/>
        </p:nvSpPr>
        <p:spPr>
          <a:xfrm>
            <a:off x="8898064" y="3858768"/>
            <a:ext cx="540448" cy="310896"/>
          </a:xfrm>
          <a:prstGeom prst="rect">
            <a:avLst/>
          </a:prstGeom>
          <a:noFill/>
        </p:spPr>
        <p:txBody>
          <a:bodyPr wrap="none" lIns="0" rIns="0" tIns="0" bIns="0" anchor="ctr"/>
          <a:lstStyle/>
          <a:p>
            <a:pPr algn="l"/>
            <a:r>
              <a:rPr sz="1050" b="0" i="0" strike="sngStrike">
                <a:solidFill>
                  <a:srgbClr val="8A877F"/>
                </a:solidFill>
                <a:latin typeface="Arial"/>
                <a:ea typeface="Arial"/>
                <a:cs typeface="Arial"/>
              </a:rPr>
              <a:t>elevate</a:t>
            </a:r>
          </a:p>
        </p:txBody>
      </p:sp>
      <p:sp>
        <p:nvSpPr>
          <p:cNvPr id="16" name="Rounded Rectangle 15"/>
          <p:cNvSpPr/>
          <p:nvPr/>
        </p:nvSpPr>
        <p:spPr>
          <a:xfrm>
            <a:off x="9648825" y="3858768"/>
            <a:ext cx="823912" cy="310896"/>
          </a:xfrm>
          <a:prstGeom prst="roundRect">
            <a:avLst>
              <a:gd name="adj" fmla="val 50000"/>
            </a:avLst>
          </a:prstGeom>
          <a:solidFill>
            <a:srgbClr val="18181B"/>
          </a:solidFill>
          <a:ln w="9525">
            <a:solidFill>
              <a:srgbClr val="34343A"/>
            </a:solidFill>
          </a:ln>
        </p:spPr>
        <p:txBody>
          <a:bodyPr rtlCol="0" anchor="ctr"/>
          <a:lstStyle/>
          <a:p/>
        </p:txBody>
      </p:sp>
      <p:sp>
        <p:nvSpPr>
          <p:cNvPr id="17" name="TextBox 16"/>
          <p:cNvSpPr txBox="1"/>
          <p:nvPr/>
        </p:nvSpPr>
        <p:spPr>
          <a:xfrm>
            <a:off x="9813417" y="3858768"/>
            <a:ext cx="540448" cy="310896"/>
          </a:xfrm>
          <a:prstGeom prst="rect">
            <a:avLst/>
          </a:prstGeom>
          <a:noFill/>
        </p:spPr>
        <p:txBody>
          <a:bodyPr wrap="none" lIns="0" rIns="0" tIns="0" bIns="0" anchor="ctr"/>
          <a:lstStyle/>
          <a:p>
            <a:pPr algn="l"/>
            <a:r>
              <a:rPr sz="1050" b="0" i="0" strike="sngStrike">
                <a:solidFill>
                  <a:srgbClr val="8A877F"/>
                </a:solidFill>
                <a:latin typeface="Arial"/>
                <a:ea typeface="Arial"/>
                <a:cs typeface="Arial"/>
              </a:rPr>
              <a:t>unleash</a:t>
            </a:r>
          </a:p>
        </p:txBody>
      </p:sp>
      <p:sp>
        <p:nvSpPr>
          <p:cNvPr id="18" name="Rounded Rectangle 17"/>
          <p:cNvSpPr/>
          <p:nvPr/>
        </p:nvSpPr>
        <p:spPr>
          <a:xfrm>
            <a:off x="10564177" y="3858768"/>
            <a:ext cx="823912" cy="310896"/>
          </a:xfrm>
          <a:prstGeom prst="roundRect">
            <a:avLst>
              <a:gd name="adj" fmla="val 50000"/>
            </a:avLst>
          </a:prstGeom>
          <a:solidFill>
            <a:srgbClr val="18181B"/>
          </a:solidFill>
          <a:ln w="9525">
            <a:solidFill>
              <a:srgbClr val="34343A"/>
            </a:solidFill>
          </a:ln>
        </p:spPr>
        <p:txBody>
          <a:bodyPr rtlCol="0" anchor="ctr"/>
          <a:lstStyle/>
          <a:p/>
        </p:txBody>
      </p:sp>
      <p:sp>
        <p:nvSpPr>
          <p:cNvPr id="19" name="TextBox 18"/>
          <p:cNvSpPr txBox="1"/>
          <p:nvPr/>
        </p:nvSpPr>
        <p:spPr>
          <a:xfrm>
            <a:off x="10728769" y="3858768"/>
            <a:ext cx="540448" cy="310896"/>
          </a:xfrm>
          <a:prstGeom prst="rect">
            <a:avLst/>
          </a:prstGeom>
          <a:noFill/>
        </p:spPr>
        <p:txBody>
          <a:bodyPr wrap="none" lIns="0" rIns="0" tIns="0" bIns="0" anchor="ctr"/>
          <a:lstStyle/>
          <a:p>
            <a:pPr algn="l"/>
            <a:r>
              <a:rPr sz="1050" b="0" i="0" strike="sngStrike">
                <a:solidFill>
                  <a:srgbClr val="8A877F"/>
                </a:solidFill>
                <a:latin typeface="Arial"/>
                <a:ea typeface="Arial"/>
                <a:cs typeface="Arial"/>
              </a:rPr>
              <a:t>nestled</a:t>
            </a:r>
          </a:p>
        </p:txBody>
      </p:sp>
      <p:sp>
        <p:nvSpPr>
          <p:cNvPr id="20" name="Rounded Rectangle 19"/>
          <p:cNvSpPr/>
          <p:nvPr/>
        </p:nvSpPr>
        <p:spPr>
          <a:xfrm>
            <a:off x="7818119" y="4261104"/>
            <a:ext cx="1459992" cy="310896"/>
          </a:xfrm>
          <a:prstGeom prst="roundRect">
            <a:avLst>
              <a:gd name="adj" fmla="val 50000"/>
            </a:avLst>
          </a:prstGeom>
          <a:solidFill>
            <a:srgbClr val="18181B"/>
          </a:solidFill>
          <a:ln w="9525">
            <a:solidFill>
              <a:srgbClr val="34343A"/>
            </a:solidFill>
          </a:ln>
        </p:spPr>
        <p:txBody>
          <a:bodyPr rtlCol="0" anchor="ctr"/>
          <a:lstStyle/>
          <a:p/>
        </p:txBody>
      </p:sp>
      <p:sp>
        <p:nvSpPr>
          <p:cNvPr id="21" name="TextBox 20"/>
          <p:cNvSpPr txBox="1"/>
          <p:nvPr/>
        </p:nvSpPr>
        <p:spPr>
          <a:xfrm>
            <a:off x="7982711" y="4261104"/>
            <a:ext cx="1176528" cy="310896"/>
          </a:xfrm>
          <a:prstGeom prst="rect">
            <a:avLst/>
          </a:prstGeom>
          <a:noFill/>
        </p:spPr>
        <p:txBody>
          <a:bodyPr wrap="none" lIns="0" rIns="0" tIns="0" bIns="0" anchor="ctr"/>
          <a:lstStyle/>
          <a:p>
            <a:pPr algn="l"/>
            <a:r>
              <a:rPr sz="1050" b="0" i="0" strike="sngStrike">
                <a:solidFill>
                  <a:srgbClr val="8A877F"/>
                </a:solidFill>
                <a:latin typeface="Arial"/>
                <a:ea typeface="Arial"/>
                <a:cs typeface="Arial"/>
              </a:rPr>
              <a:t>culinary journey</a:t>
            </a:r>
          </a:p>
        </p:txBody>
      </p:sp>
      <p:sp>
        <p:nvSpPr>
          <p:cNvPr id="22" name="Rounded Rectangle 21"/>
          <p:cNvSpPr/>
          <p:nvPr/>
        </p:nvSpPr>
        <p:spPr>
          <a:xfrm>
            <a:off x="9369552" y="4261104"/>
            <a:ext cx="965263" cy="310896"/>
          </a:xfrm>
          <a:prstGeom prst="roundRect">
            <a:avLst>
              <a:gd name="adj" fmla="val 50000"/>
            </a:avLst>
          </a:prstGeom>
          <a:solidFill>
            <a:srgbClr val="18181B"/>
          </a:solidFill>
          <a:ln w="9525">
            <a:solidFill>
              <a:srgbClr val="34343A"/>
            </a:solidFill>
          </a:ln>
        </p:spPr>
        <p:txBody>
          <a:bodyPr rtlCol="0" anchor="ctr"/>
          <a:lstStyle/>
          <a:p/>
        </p:txBody>
      </p:sp>
      <p:sp>
        <p:nvSpPr>
          <p:cNvPr id="23" name="TextBox 22"/>
          <p:cNvSpPr txBox="1"/>
          <p:nvPr/>
        </p:nvSpPr>
        <p:spPr>
          <a:xfrm>
            <a:off x="9534144" y="4261104"/>
            <a:ext cx="681799" cy="310896"/>
          </a:xfrm>
          <a:prstGeom prst="rect">
            <a:avLst/>
          </a:prstGeom>
          <a:noFill/>
        </p:spPr>
        <p:txBody>
          <a:bodyPr wrap="none" lIns="0" rIns="0" tIns="0" bIns="0" anchor="ctr"/>
          <a:lstStyle/>
          <a:p>
            <a:pPr algn="l"/>
            <a:r>
              <a:rPr sz="1050" b="0" i="0" strike="sngStrike">
                <a:solidFill>
                  <a:srgbClr val="8A877F"/>
                </a:solidFill>
                <a:latin typeface="Arial"/>
                <a:ea typeface="Arial"/>
                <a:cs typeface="Arial"/>
              </a:rPr>
              <a:t>tantalize</a:t>
            </a:r>
          </a:p>
        </p:txBody>
      </p:sp>
      <p:sp>
        <p:nvSpPr>
          <p:cNvPr id="24" name="TextBox 23"/>
          <p:cNvSpPr txBox="1"/>
          <p:nvPr/>
        </p:nvSpPr>
        <p:spPr>
          <a:xfrm>
            <a:off x="7818119" y="4846320"/>
            <a:ext cx="3687775" cy="502920"/>
          </a:xfrm>
          <a:prstGeom prst="rect">
            <a:avLst/>
          </a:prstGeom>
          <a:noFill/>
        </p:spPr>
        <p:txBody>
          <a:bodyPr wrap="square" lIns="0" rIns="0" tIns="0" bIns="0" anchor="t"/>
          <a:lstStyle/>
          <a:p>
            <a:pPr algn="l">
              <a:lnSpc>
                <a:spcPct val="115000"/>
              </a:lnSpc>
            </a:pPr>
            <a:r>
              <a:rPr sz="1050" b="1" i="0">
                <a:solidFill>
                  <a:srgbClr val="F4F1EA"/>
                </a:solidFill>
                <a:latin typeface="Arial"/>
                <a:ea typeface="Arial"/>
                <a:cs typeface="Arial"/>
              </a:rPr>
              <a:t>Rubric  </a:t>
            </a:r>
            <a:r>
              <a:rPr sz="1050" b="0" i="0">
                <a:solidFill>
                  <a:srgbClr val="8A877F"/>
                </a:solidFill>
                <a:latin typeface="Arial"/>
                <a:ea typeface="Arial"/>
                <a:cs typeface="Arial"/>
              </a:rPr>
              <a:t>brand fidelity 30 · specificity 25 · clarity 20 · voice 15 · CTA 10 · −6 per banned phrase</a:t>
            </a:r>
          </a:p>
        </p:txBody>
      </p:sp>
      <p:sp>
        <p:nvSpPr>
          <p:cNvPr id="25" name="TextBox 24"/>
          <p:cNvSpPr txBox="1"/>
          <p:nvPr/>
        </p:nvSpPr>
        <p:spPr>
          <a:xfrm>
            <a:off x="7818119" y="5376672"/>
            <a:ext cx="3687775" cy="502920"/>
          </a:xfrm>
          <a:prstGeom prst="rect">
            <a:avLst/>
          </a:prstGeom>
          <a:noFill/>
        </p:spPr>
        <p:txBody>
          <a:bodyPr wrap="square" lIns="0" rIns="0" tIns="0" bIns="0" anchor="t"/>
          <a:lstStyle/>
          <a:p>
            <a:pPr algn="l">
              <a:lnSpc>
                <a:spcPct val="115000"/>
              </a:lnSpc>
            </a:pPr>
            <a:r>
              <a:rPr sz="1050" b="1" i="0">
                <a:solidFill>
                  <a:srgbClr val="F4F1EA"/>
                </a:solidFill>
                <a:latin typeface="Arial"/>
                <a:ea typeface="Arial"/>
                <a:cs typeface="Arial"/>
              </a:rPr>
              <a:t>Taste Labs-ready  </a:t>
            </a:r>
            <a:r>
              <a:rPr sz="1050" b="0" i="0">
                <a:solidFill>
                  <a:srgbClr val="8A877F"/>
                </a:solidFill>
                <a:latin typeface="Arial"/>
                <a:ea typeface="Arial"/>
                <a:cs typeface="Arial"/>
              </a:rPr>
              <a:t>TASTE_API_KEY plugs brand-aware scoring into the same gate.</a:t>
            </a:r>
          </a:p>
        </p:txBody>
      </p:sp>
      <p:sp>
        <p:nvSpPr>
          <p:cNvPr id="26" name="TextBox 25"/>
          <p:cNvSpPr txBox="1"/>
          <p:nvPr/>
        </p:nvSpPr>
        <p:spPr>
          <a:xfrm>
            <a:off x="960120" y="5641848"/>
            <a:ext cx="6172200" cy="228600"/>
          </a:xfrm>
          <a:prstGeom prst="rect">
            <a:avLst/>
          </a:prstGeom>
          <a:noFill/>
        </p:spPr>
        <p:txBody>
          <a:bodyPr wrap="square" lIns="0" rIns="0" tIns="0" bIns="0" anchor="t"/>
          <a:lstStyle/>
          <a:p>
            <a:pPr algn="l"/>
            <a:r>
              <a:rPr sz="900" b="0" i="0">
                <a:solidFill>
                  <a:srgbClr val="5E5C57"/>
                </a:solidFill>
                <a:latin typeface="Arial"/>
                <a:ea typeface="Arial"/>
                <a:cs typeface="Arial"/>
              </a:rPr>
              <a:t>v1 → v3, scored by OpenAI gpt-5-mini-2025-08-07</a:t>
            </a:r>
          </a:p>
        </p:txBody>
      </p:sp>
      <p:sp>
        <p:nvSpPr>
          <p:cNvPr id="27" name="TextBox 26"/>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28" name="TextBox 27"/>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ARCHITECTURE</a:t>
            </a:r>
          </a:p>
        </p:txBody>
      </p:sp>
      <p:sp>
        <p:nvSpPr>
          <p:cNvPr id="4" name="TextBox 3"/>
          <p:cNvSpPr txBox="1"/>
          <p:nvPr/>
        </p:nvSpPr>
        <p:spPr>
          <a:xfrm>
            <a:off x="685800" y="896112"/>
            <a:ext cx="10820095" cy="640080"/>
          </a:xfrm>
          <a:prstGeom prst="rect">
            <a:avLst/>
          </a:prstGeom>
          <a:noFill/>
        </p:spPr>
        <p:txBody>
          <a:bodyPr wrap="square" lIns="0" rIns="0" tIns="0" bIns="0" anchor="t"/>
          <a:lstStyle/>
          <a:p>
            <a:pPr algn="l">
              <a:lnSpc>
                <a:spcPct val="95000"/>
              </a:lnSpc>
            </a:pPr>
            <a:r>
              <a:rPr sz="3600" b="0" i="0">
                <a:solidFill>
                  <a:srgbClr val="F4F1EA"/>
                </a:solidFill>
                <a:latin typeface="Georgia"/>
                <a:ea typeface="Georgia"/>
                <a:cs typeface="Georgia"/>
              </a:rPr>
              <a:t>One Worker. One Durable Object. </a:t>
            </a:r>
            <a:r>
              <a:rPr sz="3600" b="0" i="1">
                <a:solidFill>
                  <a:srgbClr val="FF5B1F"/>
                </a:solidFill>
                <a:latin typeface="Georgia"/>
                <a:ea typeface="Georgia"/>
                <a:cs typeface="Georgia"/>
              </a:rPr>
              <a:t>Zero servers.</a:t>
            </a:r>
          </a:p>
        </p:txBody>
      </p:sp>
      <p:sp>
        <p:nvSpPr>
          <p:cNvPr id="5" name="Rounded Rectangle 4"/>
          <p:cNvSpPr/>
          <p:nvPr/>
        </p:nvSpPr>
        <p:spPr>
          <a:xfrm>
            <a:off x="4813679" y="1728216"/>
            <a:ext cx="6747079" cy="4471416"/>
          </a:xfrm>
          <a:prstGeom prst="roundRect">
            <a:avLst>
              <a:gd name="adj" fmla="val 1635"/>
            </a:avLst>
          </a:prstGeom>
          <a:solidFill>
            <a:srgbClr val="0A0A0B"/>
          </a:solidFill>
          <a:ln w="9525">
            <a:solidFill>
              <a:srgbClr val="34343A"/>
            </a:solidFill>
          </a:ln>
        </p:spPr>
        <p:txBody>
          <a:bodyPr rtlCol="0" anchor="ctr"/>
          <a:lstStyle/>
          <a:p/>
        </p:txBody>
      </p:sp>
      <p:pic>
        <p:nvPicPr>
          <p:cNvPr id="6" name="Picture 5" descr="architecture.png"/>
          <p:cNvPicPr>
            <a:picLocks noChangeAspect="1"/>
          </p:cNvPicPr>
          <p:nvPr/>
        </p:nvPicPr>
        <p:blipFill>
          <a:blip r:embed="rId3"/>
          <a:stretch>
            <a:fillRect/>
          </a:stretch>
        </p:blipFill>
        <p:spPr>
          <a:xfrm>
            <a:off x="4868543" y="1783080"/>
            <a:ext cx="6637351" cy="4361688"/>
          </a:xfrm>
          <a:prstGeom prst="rect">
            <a:avLst/>
          </a:prstGeom>
        </p:spPr>
      </p:pic>
      <p:sp>
        <p:nvSpPr>
          <p:cNvPr id="7" name="Rounded Rectangle 6"/>
          <p:cNvSpPr/>
          <p:nvPr/>
        </p:nvSpPr>
        <p:spPr>
          <a:xfrm>
            <a:off x="685800" y="1499615"/>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8" name="Oval 7"/>
          <p:cNvSpPr/>
          <p:nvPr/>
        </p:nvSpPr>
        <p:spPr>
          <a:xfrm>
            <a:off x="854964" y="1723643"/>
            <a:ext cx="100584" cy="100584"/>
          </a:xfrm>
          <a:prstGeom prst="ellipse">
            <a:avLst/>
          </a:prstGeom>
          <a:solidFill>
            <a:srgbClr val="3DDC84"/>
          </a:solidFill>
          <a:ln>
            <a:noFill/>
          </a:ln>
        </p:spPr>
        <p:txBody>
          <a:bodyPr rtlCol="0" anchor="ctr"/>
          <a:lstStyle/>
          <a:p/>
        </p:txBody>
      </p:sp>
      <p:sp>
        <p:nvSpPr>
          <p:cNvPr id="9" name="TextBox 8"/>
          <p:cNvSpPr txBox="1"/>
          <p:nvPr/>
        </p:nvSpPr>
        <p:spPr>
          <a:xfrm>
            <a:off x="1088136" y="1563623"/>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Cloudflare Workers</a:t>
            </a:r>
          </a:p>
        </p:txBody>
      </p:sp>
      <p:sp>
        <p:nvSpPr>
          <p:cNvPr id="10" name="TextBox 9"/>
          <p:cNvSpPr txBox="1"/>
          <p:nvPr/>
        </p:nvSpPr>
        <p:spPr>
          <a:xfrm>
            <a:off x="1088136" y="1801367"/>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router + static assets</a:t>
            </a:r>
          </a:p>
        </p:txBody>
      </p:sp>
      <p:sp>
        <p:nvSpPr>
          <p:cNvPr id="11" name="Rounded Rectangle 10"/>
          <p:cNvSpPr/>
          <p:nvPr/>
        </p:nvSpPr>
        <p:spPr>
          <a:xfrm>
            <a:off x="685800" y="2176272"/>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12" name="Oval 11"/>
          <p:cNvSpPr/>
          <p:nvPr/>
        </p:nvSpPr>
        <p:spPr>
          <a:xfrm>
            <a:off x="854964" y="2400299"/>
            <a:ext cx="100584" cy="100584"/>
          </a:xfrm>
          <a:prstGeom prst="ellipse">
            <a:avLst/>
          </a:prstGeom>
          <a:solidFill>
            <a:srgbClr val="3DDC84"/>
          </a:solidFill>
          <a:ln>
            <a:noFill/>
          </a:ln>
        </p:spPr>
        <p:txBody>
          <a:bodyPr rtlCol="0" anchor="ctr"/>
          <a:lstStyle/>
          <a:p/>
        </p:txBody>
      </p:sp>
      <p:sp>
        <p:nvSpPr>
          <p:cNvPr id="13" name="TextBox 12"/>
          <p:cNvSpPr txBox="1"/>
          <p:nvPr/>
        </p:nvSpPr>
        <p:spPr>
          <a:xfrm>
            <a:off x="1088136" y="2240279"/>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Agents SDK · Durable Objects</a:t>
            </a:r>
          </a:p>
        </p:txBody>
      </p:sp>
      <p:sp>
        <p:nvSpPr>
          <p:cNvPr id="14" name="TextBox 13"/>
          <p:cNvSpPr txBox="1"/>
          <p:nvPr/>
        </p:nvSpPr>
        <p:spPr>
          <a:xfrm>
            <a:off x="1088136" y="2478024"/>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HQ state, SQLite, WebSocket</a:t>
            </a:r>
          </a:p>
        </p:txBody>
      </p:sp>
      <p:sp>
        <p:nvSpPr>
          <p:cNvPr id="15" name="Rounded Rectangle 14"/>
          <p:cNvSpPr/>
          <p:nvPr/>
        </p:nvSpPr>
        <p:spPr>
          <a:xfrm>
            <a:off x="685800" y="2852928"/>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16" name="Oval 15"/>
          <p:cNvSpPr/>
          <p:nvPr/>
        </p:nvSpPr>
        <p:spPr>
          <a:xfrm>
            <a:off x="854964" y="3076956"/>
            <a:ext cx="100584" cy="100584"/>
          </a:xfrm>
          <a:prstGeom prst="ellipse">
            <a:avLst/>
          </a:prstGeom>
          <a:solidFill>
            <a:srgbClr val="5E5C57"/>
          </a:solidFill>
          <a:ln>
            <a:noFill/>
          </a:ln>
        </p:spPr>
        <p:txBody>
          <a:bodyPr rtlCol="0" anchor="ctr"/>
          <a:lstStyle/>
          <a:p/>
        </p:txBody>
      </p:sp>
      <p:sp>
        <p:nvSpPr>
          <p:cNvPr id="17" name="TextBox 16"/>
          <p:cNvSpPr txBox="1"/>
          <p:nvPr/>
        </p:nvSpPr>
        <p:spPr>
          <a:xfrm>
            <a:off x="1088136" y="2916936"/>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Workers AI</a:t>
            </a:r>
          </a:p>
        </p:txBody>
      </p:sp>
      <p:sp>
        <p:nvSpPr>
          <p:cNvPr id="18" name="TextBox 17"/>
          <p:cNvSpPr txBox="1"/>
          <p:nvPr/>
        </p:nvSpPr>
        <p:spPr>
          <a:xfrm>
            <a:off x="1088136" y="3154680"/>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Llama 3.3 70B · gpt-oss-120b · FLUX</a:t>
            </a:r>
          </a:p>
        </p:txBody>
      </p:sp>
      <p:sp>
        <p:nvSpPr>
          <p:cNvPr id="19" name="Rounded Rectangle 18"/>
          <p:cNvSpPr/>
          <p:nvPr/>
        </p:nvSpPr>
        <p:spPr>
          <a:xfrm>
            <a:off x="685800" y="3529584"/>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20" name="Oval 19"/>
          <p:cNvSpPr/>
          <p:nvPr/>
        </p:nvSpPr>
        <p:spPr>
          <a:xfrm>
            <a:off x="854964" y="3753612"/>
            <a:ext cx="100584" cy="100584"/>
          </a:xfrm>
          <a:prstGeom prst="ellipse">
            <a:avLst/>
          </a:prstGeom>
          <a:solidFill>
            <a:srgbClr val="3DDC84"/>
          </a:solidFill>
          <a:ln>
            <a:noFill/>
          </a:ln>
        </p:spPr>
        <p:txBody>
          <a:bodyPr rtlCol="0" anchor="ctr"/>
          <a:lstStyle/>
          <a:p/>
        </p:txBody>
      </p:sp>
      <p:sp>
        <p:nvSpPr>
          <p:cNvPr id="21" name="TextBox 20"/>
          <p:cNvSpPr txBox="1"/>
          <p:nvPr/>
        </p:nvSpPr>
        <p:spPr>
          <a:xfrm>
            <a:off x="1088136" y="3593592"/>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Workers KV</a:t>
            </a:r>
          </a:p>
        </p:txBody>
      </p:sp>
      <p:sp>
        <p:nvSpPr>
          <p:cNvPr id="22" name="TextBox 21"/>
          <p:cNvSpPr txBox="1"/>
          <p:nvPr/>
        </p:nvSpPr>
        <p:spPr>
          <a:xfrm>
            <a:off x="1088136" y="3831336"/>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hero images + media</a:t>
            </a:r>
          </a:p>
        </p:txBody>
      </p:sp>
      <p:sp>
        <p:nvSpPr>
          <p:cNvPr id="23" name="Rounded Rectangle 22"/>
          <p:cNvSpPr/>
          <p:nvPr/>
        </p:nvSpPr>
        <p:spPr>
          <a:xfrm>
            <a:off x="685800" y="4206240"/>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24" name="Oval 23"/>
          <p:cNvSpPr/>
          <p:nvPr/>
        </p:nvSpPr>
        <p:spPr>
          <a:xfrm>
            <a:off x="854964" y="4430268"/>
            <a:ext cx="100584" cy="100584"/>
          </a:xfrm>
          <a:prstGeom prst="ellipse">
            <a:avLst/>
          </a:prstGeom>
          <a:solidFill>
            <a:srgbClr val="3DDC84"/>
          </a:solidFill>
          <a:ln>
            <a:noFill/>
          </a:ln>
        </p:spPr>
        <p:txBody>
          <a:bodyPr rtlCol="0" anchor="ctr"/>
          <a:lstStyle/>
          <a:p/>
        </p:txBody>
      </p:sp>
      <p:sp>
        <p:nvSpPr>
          <p:cNvPr id="25" name="TextBox 24"/>
          <p:cNvSpPr txBox="1"/>
          <p:nvPr/>
        </p:nvSpPr>
        <p:spPr>
          <a:xfrm>
            <a:off x="1088136" y="4270248"/>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Stripe</a:t>
            </a:r>
          </a:p>
        </p:txBody>
      </p:sp>
      <p:sp>
        <p:nvSpPr>
          <p:cNvPr id="26" name="TextBox 25"/>
          <p:cNvSpPr txBox="1"/>
          <p:nvPr/>
        </p:nvSpPr>
        <p:spPr>
          <a:xfrm>
            <a:off x="1088136" y="4507992"/>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Payment Links · Checkout · webhooks</a:t>
            </a:r>
          </a:p>
        </p:txBody>
      </p:sp>
      <p:sp>
        <p:nvSpPr>
          <p:cNvPr id="27" name="Rounded Rectangle 26"/>
          <p:cNvSpPr/>
          <p:nvPr/>
        </p:nvSpPr>
        <p:spPr>
          <a:xfrm>
            <a:off x="685800" y="4882896"/>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28" name="Oval 27"/>
          <p:cNvSpPr/>
          <p:nvPr/>
        </p:nvSpPr>
        <p:spPr>
          <a:xfrm>
            <a:off x="854964" y="5106924"/>
            <a:ext cx="100584" cy="100584"/>
          </a:xfrm>
          <a:prstGeom prst="ellipse">
            <a:avLst/>
          </a:prstGeom>
          <a:solidFill>
            <a:srgbClr val="3DDC84"/>
          </a:solidFill>
          <a:ln>
            <a:noFill/>
          </a:ln>
        </p:spPr>
        <p:txBody>
          <a:bodyPr rtlCol="0" anchor="ctr"/>
          <a:lstStyle/>
          <a:p/>
        </p:txBody>
      </p:sp>
      <p:sp>
        <p:nvSpPr>
          <p:cNvPr id="29" name="TextBox 28"/>
          <p:cNvSpPr txBox="1"/>
          <p:nvPr/>
        </p:nvSpPr>
        <p:spPr>
          <a:xfrm>
            <a:off x="1088136" y="4946904"/>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Brainbase</a:t>
            </a:r>
          </a:p>
        </p:txBody>
      </p:sp>
      <p:sp>
        <p:nvSpPr>
          <p:cNvPr id="30" name="TextBox 29"/>
          <p:cNvSpPr txBox="1"/>
          <p:nvPr/>
        </p:nvSpPr>
        <p:spPr>
          <a:xfrm>
            <a:off x="1088136" y="5184648"/>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managed-agent second opinion (/v2/threads)</a:t>
            </a:r>
          </a:p>
        </p:txBody>
      </p:sp>
      <p:sp>
        <p:nvSpPr>
          <p:cNvPr id="31" name="Rounded Rectangle 30"/>
          <p:cNvSpPr/>
          <p:nvPr/>
        </p:nvSpPr>
        <p:spPr>
          <a:xfrm>
            <a:off x="685800" y="5559552"/>
            <a:ext cx="3816983" cy="548640"/>
          </a:xfrm>
          <a:prstGeom prst="roundRect">
            <a:avLst>
              <a:gd name="adj" fmla="val 16666"/>
            </a:avLst>
          </a:prstGeom>
          <a:solidFill>
            <a:srgbClr val="121214"/>
          </a:solidFill>
          <a:ln w="9525">
            <a:solidFill>
              <a:srgbClr val="232327"/>
            </a:solidFill>
          </a:ln>
        </p:spPr>
        <p:txBody>
          <a:bodyPr rtlCol="0" anchor="ctr"/>
          <a:lstStyle/>
          <a:p/>
        </p:txBody>
      </p:sp>
      <p:sp>
        <p:nvSpPr>
          <p:cNvPr id="32" name="Oval 31"/>
          <p:cNvSpPr/>
          <p:nvPr/>
        </p:nvSpPr>
        <p:spPr>
          <a:xfrm>
            <a:off x="854964" y="5783580"/>
            <a:ext cx="100584" cy="100584"/>
          </a:xfrm>
          <a:prstGeom prst="ellipse">
            <a:avLst/>
          </a:prstGeom>
          <a:solidFill>
            <a:srgbClr val="3DDC84"/>
          </a:solidFill>
          <a:ln>
            <a:noFill/>
          </a:ln>
        </p:spPr>
        <p:txBody>
          <a:bodyPr rtlCol="0" anchor="ctr"/>
          <a:lstStyle/>
          <a:p/>
        </p:txBody>
      </p:sp>
      <p:sp>
        <p:nvSpPr>
          <p:cNvPr id="33" name="TextBox 32"/>
          <p:cNvSpPr txBox="1"/>
          <p:nvPr/>
        </p:nvSpPr>
        <p:spPr>
          <a:xfrm>
            <a:off x="1088136" y="5623560"/>
            <a:ext cx="3314063" cy="237744"/>
          </a:xfrm>
          <a:prstGeom prst="rect">
            <a:avLst/>
          </a:prstGeom>
          <a:noFill/>
        </p:spPr>
        <p:txBody>
          <a:bodyPr wrap="square" lIns="0" rIns="0" tIns="0" bIns="0" anchor="t"/>
          <a:lstStyle/>
          <a:p>
            <a:pPr algn="l"/>
            <a:r>
              <a:rPr sz="1150" b="1" i="0">
                <a:solidFill>
                  <a:srgbClr val="F4F1EA"/>
                </a:solidFill>
                <a:latin typeface="Arial"/>
                <a:ea typeface="Arial"/>
                <a:cs typeface="Arial"/>
              </a:rPr>
              <a:t>LLM brain</a:t>
            </a:r>
          </a:p>
        </p:txBody>
      </p:sp>
      <p:sp>
        <p:nvSpPr>
          <p:cNvPr id="34" name="TextBox 33"/>
          <p:cNvSpPr txBox="1"/>
          <p:nvPr/>
        </p:nvSpPr>
        <p:spPr>
          <a:xfrm>
            <a:off x="1088136" y="5861304"/>
            <a:ext cx="3314063" cy="201168"/>
          </a:xfrm>
          <a:prstGeom prst="rect">
            <a:avLst/>
          </a:prstGeom>
          <a:noFill/>
        </p:spPr>
        <p:txBody>
          <a:bodyPr wrap="square" lIns="0" rIns="0" tIns="0" bIns="0" anchor="t"/>
          <a:lstStyle/>
          <a:p>
            <a:pPr algn="l"/>
            <a:r>
              <a:rPr sz="900" b="0" i="0">
                <a:solidFill>
                  <a:srgbClr val="8A877F"/>
                </a:solidFill>
                <a:latin typeface="Arial"/>
                <a:ea typeface="Arial"/>
                <a:cs typeface="Arial"/>
              </a:rPr>
              <a:t>Claude · OpenAI · Workers AI (auto-routed)</a:t>
            </a:r>
          </a:p>
        </p:txBody>
      </p:sp>
      <p:sp>
        <p:nvSpPr>
          <p:cNvPr id="35" name="TextBox 34"/>
          <p:cNvSpPr txBox="1"/>
          <p:nvPr/>
        </p:nvSpPr>
        <p:spPr>
          <a:xfrm>
            <a:off x="685800" y="6254496"/>
            <a:ext cx="3816983" cy="228600"/>
          </a:xfrm>
          <a:prstGeom prst="rect">
            <a:avLst/>
          </a:prstGeom>
          <a:noFill/>
        </p:spPr>
        <p:txBody>
          <a:bodyPr wrap="square" lIns="0" rIns="0" tIns="0" bIns="0" anchor="t"/>
          <a:lstStyle/>
          <a:p>
            <a:pPr algn="l"/>
            <a:r>
              <a:rPr sz="850" b="0" i="0">
                <a:solidFill>
                  <a:srgbClr val="3DDC84"/>
                </a:solidFill>
                <a:latin typeface="Arial"/>
                <a:ea typeface="Arial"/>
                <a:cs typeface="Arial"/>
              </a:rPr>
              <a:t>● green = configured on the live deploy</a:t>
            </a:r>
          </a:p>
        </p:txBody>
      </p:sp>
      <p:sp>
        <p:nvSpPr>
          <p:cNvPr id="36" name="TextBox 35"/>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37" name="TextBox 36"/>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money.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8229600" cy="274320"/>
          </a:xfrm>
          <a:prstGeom prst="rect">
            <a:avLst/>
          </a:prstGeom>
          <a:noFill/>
        </p:spPr>
        <p:txBody>
          <a:bodyPr wrap="square" lIns="0" rIns="0" tIns="0" bIns="0" anchor="t"/>
          <a:lstStyle/>
          <a:p>
            <a:pPr algn="l"/>
            <a:r>
              <a:rPr sz="900" b="1" i="0" spc="280">
                <a:solidFill>
                  <a:srgbClr val="3DDC84"/>
                </a:solidFill>
                <a:latin typeface="Arial"/>
                <a:ea typeface="Arial"/>
                <a:cs typeface="Arial"/>
              </a:rPr>
              <a:t>●  </a:t>
            </a:r>
            <a:r>
              <a:rPr sz="1100" b="1" i="0" spc="280">
                <a:solidFill>
                  <a:srgbClr val="3DDC84"/>
                </a:solidFill>
                <a:latin typeface="Arial"/>
                <a:ea typeface="Arial"/>
                <a:cs typeface="Arial"/>
              </a:rPr>
              <a:t>BUSINESS MODEL</a:t>
            </a:r>
          </a:p>
        </p:txBody>
      </p:sp>
      <p:sp>
        <p:nvSpPr>
          <p:cNvPr id="4" name="TextBox 3"/>
          <p:cNvSpPr txBox="1"/>
          <p:nvPr/>
        </p:nvSpPr>
        <p:spPr>
          <a:xfrm>
            <a:off x="685800" y="896112"/>
            <a:ext cx="10820095" cy="914400"/>
          </a:xfrm>
          <a:prstGeom prst="rect">
            <a:avLst/>
          </a:prstGeom>
          <a:noFill/>
        </p:spPr>
        <p:txBody>
          <a:bodyPr wrap="square" lIns="0" rIns="0" tIns="0" bIns="0" anchor="t"/>
          <a:lstStyle/>
          <a:p>
            <a:pPr algn="l">
              <a:lnSpc>
                <a:spcPct val="95000"/>
              </a:lnSpc>
            </a:pPr>
            <a:r>
              <a:rPr sz="4800" b="0" i="0">
                <a:solidFill>
                  <a:srgbClr val="F4F1EA"/>
                </a:solidFill>
                <a:latin typeface="Georgia"/>
                <a:ea typeface="Georgia"/>
                <a:cs typeface="Georgia"/>
              </a:rPr>
              <a:t>$49 to claim it. </a:t>
            </a:r>
            <a:r>
              <a:rPr sz="4800" b="0" i="1">
                <a:solidFill>
                  <a:srgbClr val="3DDC84"/>
                </a:solidFill>
                <a:latin typeface="Georgia"/>
                <a:ea typeface="Georgia"/>
                <a:cs typeface="Georgia"/>
              </a:rPr>
              <a:t>$19/mo to keep it.</a:t>
            </a:r>
          </a:p>
        </p:txBody>
      </p:sp>
      <p:sp>
        <p:nvSpPr>
          <p:cNvPr id="5" name="Rounded Rectangle 4"/>
          <p:cNvSpPr/>
          <p:nvPr/>
        </p:nvSpPr>
        <p:spPr>
          <a:xfrm>
            <a:off x="685800" y="2057400"/>
            <a:ext cx="2606040" cy="3767328"/>
          </a:xfrm>
          <a:prstGeom prst="roundRect">
            <a:avLst>
              <a:gd name="adj" fmla="val 4912"/>
            </a:avLst>
          </a:prstGeom>
          <a:solidFill>
            <a:srgbClr val="121214"/>
          </a:solidFill>
          <a:ln w="15875">
            <a:solidFill>
              <a:srgbClr val="3DDC84"/>
            </a:solidFill>
          </a:ln>
        </p:spPr>
        <p:txBody>
          <a:bodyPr rtlCol="0" anchor="ctr"/>
          <a:lstStyle/>
          <a:p/>
        </p:txBody>
      </p:sp>
      <p:sp>
        <p:nvSpPr>
          <p:cNvPr id="6" name="Rounded Rectangle 5"/>
          <p:cNvSpPr/>
          <p:nvPr/>
        </p:nvSpPr>
        <p:spPr>
          <a:xfrm>
            <a:off x="960120" y="2331720"/>
            <a:ext cx="566928" cy="256032"/>
          </a:xfrm>
          <a:prstGeom prst="roundRect">
            <a:avLst>
              <a:gd name="adj" fmla="val 50000"/>
            </a:avLst>
          </a:prstGeom>
          <a:solidFill>
            <a:srgbClr val="3DDC84"/>
          </a:solidFill>
          <a:ln w="9525">
            <a:solidFill>
              <a:srgbClr val="3DDC84"/>
            </a:solidFill>
          </a:ln>
        </p:spPr>
        <p:txBody>
          <a:bodyPr rtlCol="0" anchor="ctr"/>
          <a:lstStyle/>
          <a:p/>
        </p:txBody>
      </p:sp>
      <p:sp>
        <p:nvSpPr>
          <p:cNvPr id="7" name="TextBox 6"/>
          <p:cNvSpPr txBox="1"/>
          <p:nvPr/>
        </p:nvSpPr>
        <p:spPr>
          <a:xfrm>
            <a:off x="1088136" y="2331720"/>
            <a:ext cx="356616" cy="256032"/>
          </a:xfrm>
          <a:prstGeom prst="rect">
            <a:avLst/>
          </a:prstGeom>
          <a:noFill/>
        </p:spPr>
        <p:txBody>
          <a:bodyPr wrap="none" lIns="0" rIns="0" tIns="0" bIns="0" anchor="ctr"/>
          <a:lstStyle/>
          <a:p>
            <a:pPr algn="l"/>
            <a:r>
              <a:rPr sz="850" b="1" i="0">
                <a:solidFill>
                  <a:srgbClr val="0A0A0B"/>
                </a:solidFill>
                <a:latin typeface="Arial"/>
                <a:ea typeface="Arial"/>
                <a:cs typeface="Arial"/>
              </a:rPr>
              <a:t>LIVE</a:t>
            </a:r>
          </a:p>
        </p:txBody>
      </p:sp>
      <p:sp>
        <p:nvSpPr>
          <p:cNvPr id="8" name="TextBox 7"/>
          <p:cNvSpPr txBox="1"/>
          <p:nvPr/>
        </p:nvSpPr>
        <p:spPr>
          <a:xfrm>
            <a:off x="960120" y="2788920"/>
            <a:ext cx="2148840" cy="1005840"/>
          </a:xfrm>
          <a:prstGeom prst="rect">
            <a:avLst/>
          </a:prstGeom>
          <a:noFill/>
        </p:spPr>
        <p:txBody>
          <a:bodyPr wrap="square" lIns="0" rIns="0" tIns="0" bIns="0" anchor="t"/>
          <a:lstStyle/>
          <a:p>
            <a:pPr algn="l"/>
            <a:r>
              <a:rPr sz="6400" b="0" i="0">
                <a:solidFill>
                  <a:srgbClr val="3DDC84"/>
                </a:solidFill>
                <a:latin typeface="Georgia"/>
                <a:ea typeface="Georgia"/>
                <a:cs typeface="Georgia"/>
              </a:rPr>
              <a:t>$49</a:t>
            </a:r>
          </a:p>
        </p:txBody>
      </p:sp>
      <p:sp>
        <p:nvSpPr>
          <p:cNvPr id="9" name="TextBox 8"/>
          <p:cNvSpPr txBox="1"/>
          <p:nvPr/>
        </p:nvSpPr>
        <p:spPr>
          <a:xfrm>
            <a:off x="960120" y="3794760"/>
            <a:ext cx="2148840" cy="274320"/>
          </a:xfrm>
          <a:prstGeom prst="rect">
            <a:avLst/>
          </a:prstGeom>
          <a:noFill/>
        </p:spPr>
        <p:txBody>
          <a:bodyPr wrap="square" lIns="0" rIns="0" tIns="0" bIns="0" anchor="t"/>
          <a:lstStyle/>
          <a:p>
            <a:pPr algn="l"/>
            <a:r>
              <a:rPr sz="1200" b="1" i="0">
                <a:solidFill>
                  <a:srgbClr val="F4F1EA"/>
                </a:solidFill>
                <a:latin typeface="Arial"/>
                <a:ea typeface="Arial"/>
                <a:cs typeface="Arial"/>
              </a:rPr>
              <a:t>Launch pack · one-time</a:t>
            </a:r>
          </a:p>
        </p:txBody>
      </p:sp>
      <p:cxnSp>
        <p:nvCxnSpPr>
          <p:cNvPr id="10" name="Connector 9"/>
          <p:cNvCxnSpPr/>
          <p:nvPr/>
        </p:nvCxnSpPr>
        <p:spPr>
          <a:xfrm>
            <a:off x="960120" y="4270248"/>
            <a:ext cx="2057400" cy="0"/>
          </a:xfrm>
          <a:prstGeom prst="line">
            <a:avLst/>
          </a:prstGeom>
          <a:ln w="9525">
            <a:solidFill>
              <a:srgbClr val="34343A"/>
            </a:solidFill>
          </a:ln>
        </p:spPr>
      </p:cxnSp>
      <p:sp>
        <p:nvSpPr>
          <p:cNvPr id="11" name="TextBox 10"/>
          <p:cNvSpPr txBox="1"/>
          <p:nvPr/>
        </p:nvSpPr>
        <p:spPr>
          <a:xfrm>
            <a:off x="960120" y="4453128"/>
            <a:ext cx="2148840" cy="1188720"/>
          </a:xfrm>
          <a:prstGeom prst="rect">
            <a:avLst/>
          </a:prstGeom>
          <a:noFill/>
        </p:spPr>
        <p:txBody>
          <a:bodyPr wrap="square" lIns="0" rIns="0" tIns="0" bIns="0" anchor="t"/>
          <a:lstStyle/>
          <a:p>
            <a:pPr algn="l">
              <a:spcAft>
                <a:spcPts val="700"/>
              </a:spcAft>
            </a:pPr>
            <a:r>
              <a:rPr sz="1200" b="0" i="0">
                <a:solidFill>
                  <a:srgbClr val="5E5C57"/>
                </a:solidFill>
                <a:latin typeface="Arial"/>
                <a:ea typeface="Arial"/>
                <a:cs typeface="Arial"/>
              </a:rPr>
              <a:t>—  </a:t>
            </a:r>
            <a:r>
              <a:rPr sz="1200" b="0" i="0">
                <a:solidFill>
                  <a:srgbClr val="8A877F"/>
                </a:solidFill>
                <a:latin typeface="Arial"/>
                <a:ea typeface="Arial"/>
                <a:cs typeface="Arial"/>
              </a:rPr>
              <a:t>Your finished site</a:t>
            </a:r>
          </a:p>
          <a:p>
            <a:pPr algn="l">
              <a:spcAft>
                <a:spcPts val="700"/>
              </a:spcAft>
            </a:pPr>
            <a:r>
              <a:rPr sz="1200" b="0" i="0">
                <a:solidFill>
                  <a:srgbClr val="5E5C57"/>
                </a:solidFill>
                <a:latin typeface="Arial"/>
                <a:ea typeface="Arial"/>
                <a:cs typeface="Arial"/>
              </a:rPr>
              <a:t>—  </a:t>
            </a:r>
            <a:r>
              <a:rPr sz="1200" b="0" i="0">
                <a:solidFill>
                  <a:srgbClr val="8A877F"/>
                </a:solidFill>
                <a:latin typeface="Arial"/>
                <a:ea typeface="Arial"/>
                <a:cs typeface="Arial"/>
              </a:rPr>
              <a:t>Brand kit + hero image</a:t>
            </a:r>
          </a:p>
          <a:p>
            <a:pPr algn="l">
              <a:spcAft>
                <a:spcPts val="700"/>
              </a:spcAft>
            </a:pPr>
            <a:r>
              <a:rPr sz="1200" b="0" i="0">
                <a:solidFill>
                  <a:srgbClr val="5E5C57"/>
                </a:solidFill>
                <a:latin typeface="Arial"/>
                <a:ea typeface="Arial"/>
                <a:cs typeface="Arial"/>
              </a:rPr>
              <a:t>—  </a:t>
            </a:r>
            <a:r>
              <a:rPr sz="1200" b="0" i="0">
                <a:solidFill>
                  <a:srgbClr val="8A877F"/>
                </a:solidFill>
                <a:latin typeface="Arial"/>
                <a:ea typeface="Arial"/>
                <a:cs typeface="Arial"/>
              </a:rPr>
              <a:t>Stripe Checkout, live now</a:t>
            </a:r>
          </a:p>
        </p:txBody>
      </p:sp>
      <p:sp>
        <p:nvSpPr>
          <p:cNvPr id="12" name="Rounded Rectangle 11"/>
          <p:cNvSpPr/>
          <p:nvPr/>
        </p:nvSpPr>
        <p:spPr>
          <a:xfrm>
            <a:off x="3566160" y="2057400"/>
            <a:ext cx="2606040" cy="3767328"/>
          </a:xfrm>
          <a:prstGeom prst="roundRect">
            <a:avLst>
              <a:gd name="adj" fmla="val 4912"/>
            </a:avLst>
          </a:prstGeom>
          <a:solidFill>
            <a:srgbClr val="121214"/>
          </a:solidFill>
          <a:ln w="9525">
            <a:solidFill>
              <a:srgbClr val="232327"/>
            </a:solidFill>
          </a:ln>
        </p:spPr>
        <p:txBody>
          <a:bodyPr rtlCol="0" anchor="ctr"/>
          <a:lstStyle/>
          <a:p/>
        </p:txBody>
      </p:sp>
      <p:sp>
        <p:nvSpPr>
          <p:cNvPr id="13" name="Rounded Rectangle 12"/>
          <p:cNvSpPr/>
          <p:nvPr/>
        </p:nvSpPr>
        <p:spPr>
          <a:xfrm>
            <a:off x="3840480" y="2331720"/>
            <a:ext cx="800100" cy="256032"/>
          </a:xfrm>
          <a:prstGeom prst="roundRect">
            <a:avLst>
              <a:gd name="adj" fmla="val 50000"/>
            </a:avLst>
          </a:prstGeom>
          <a:solidFill>
            <a:srgbClr val="18181B"/>
          </a:solidFill>
          <a:ln w="9525">
            <a:solidFill>
              <a:srgbClr val="34343A"/>
            </a:solidFill>
          </a:ln>
        </p:spPr>
        <p:txBody>
          <a:bodyPr rtlCol="0" anchor="ctr"/>
          <a:lstStyle/>
          <a:p/>
        </p:txBody>
      </p:sp>
      <p:sp>
        <p:nvSpPr>
          <p:cNvPr id="14" name="TextBox 13"/>
          <p:cNvSpPr txBox="1"/>
          <p:nvPr/>
        </p:nvSpPr>
        <p:spPr>
          <a:xfrm>
            <a:off x="3968496" y="2331720"/>
            <a:ext cx="589788" cy="256032"/>
          </a:xfrm>
          <a:prstGeom prst="rect">
            <a:avLst/>
          </a:prstGeom>
          <a:noFill/>
        </p:spPr>
        <p:txBody>
          <a:bodyPr wrap="none" lIns="0" rIns="0" tIns="0" bIns="0" anchor="ctr"/>
          <a:lstStyle/>
          <a:p>
            <a:pPr algn="l"/>
            <a:r>
              <a:rPr sz="850" b="1" i="0">
                <a:solidFill>
                  <a:srgbClr val="8A877F"/>
                </a:solidFill>
                <a:latin typeface="Arial"/>
                <a:ea typeface="Arial"/>
                <a:cs typeface="Arial"/>
              </a:rPr>
              <a:t>PLANNED</a:t>
            </a:r>
          </a:p>
        </p:txBody>
      </p:sp>
      <p:sp>
        <p:nvSpPr>
          <p:cNvPr id="15" name="TextBox 14"/>
          <p:cNvSpPr txBox="1"/>
          <p:nvPr/>
        </p:nvSpPr>
        <p:spPr>
          <a:xfrm>
            <a:off x="3840480" y="2788920"/>
            <a:ext cx="2148840" cy="1005840"/>
          </a:xfrm>
          <a:prstGeom prst="rect">
            <a:avLst/>
          </a:prstGeom>
          <a:noFill/>
        </p:spPr>
        <p:txBody>
          <a:bodyPr wrap="square" lIns="0" rIns="0" tIns="0" bIns="0" anchor="t"/>
          <a:lstStyle/>
          <a:p>
            <a:pPr algn="l"/>
            <a:r>
              <a:rPr sz="6400" b="0" i="0">
                <a:solidFill>
                  <a:srgbClr val="F4F1EA"/>
                </a:solidFill>
                <a:latin typeface="Georgia"/>
                <a:ea typeface="Georgia"/>
                <a:cs typeface="Georgia"/>
              </a:rPr>
              <a:t>$19</a:t>
            </a:r>
          </a:p>
        </p:txBody>
      </p:sp>
      <p:sp>
        <p:nvSpPr>
          <p:cNvPr id="16" name="TextBox 15"/>
          <p:cNvSpPr txBox="1"/>
          <p:nvPr/>
        </p:nvSpPr>
        <p:spPr>
          <a:xfrm>
            <a:off x="3840480" y="3794760"/>
            <a:ext cx="2148840" cy="274320"/>
          </a:xfrm>
          <a:prstGeom prst="rect">
            <a:avLst/>
          </a:prstGeom>
          <a:noFill/>
        </p:spPr>
        <p:txBody>
          <a:bodyPr wrap="square" lIns="0" rIns="0" tIns="0" bIns="0" anchor="t"/>
          <a:lstStyle/>
          <a:p>
            <a:pPr algn="l"/>
            <a:r>
              <a:rPr sz="1200" b="1" i="0">
                <a:solidFill>
                  <a:srgbClr val="F4F1EA"/>
                </a:solidFill>
                <a:latin typeface="Arial"/>
                <a:ea typeface="Arial"/>
                <a:cs typeface="Arial"/>
              </a:rPr>
              <a:t>per month · keep-alive</a:t>
            </a:r>
          </a:p>
        </p:txBody>
      </p:sp>
      <p:cxnSp>
        <p:nvCxnSpPr>
          <p:cNvPr id="17" name="Connector 16"/>
          <p:cNvCxnSpPr/>
          <p:nvPr/>
        </p:nvCxnSpPr>
        <p:spPr>
          <a:xfrm>
            <a:off x="3840480" y="4270248"/>
            <a:ext cx="2057400" cy="0"/>
          </a:xfrm>
          <a:prstGeom prst="line">
            <a:avLst/>
          </a:prstGeom>
          <a:ln w="9525">
            <a:solidFill>
              <a:srgbClr val="34343A"/>
            </a:solidFill>
          </a:ln>
        </p:spPr>
      </p:cxnSp>
      <p:sp>
        <p:nvSpPr>
          <p:cNvPr id="18" name="TextBox 17"/>
          <p:cNvSpPr txBox="1"/>
          <p:nvPr/>
        </p:nvSpPr>
        <p:spPr>
          <a:xfrm>
            <a:off x="3840480" y="4453128"/>
            <a:ext cx="2148840" cy="1188720"/>
          </a:xfrm>
          <a:prstGeom prst="rect">
            <a:avLst/>
          </a:prstGeom>
          <a:noFill/>
        </p:spPr>
        <p:txBody>
          <a:bodyPr wrap="square" lIns="0" rIns="0" tIns="0" bIns="0" anchor="t"/>
          <a:lstStyle/>
          <a:p>
            <a:pPr algn="l">
              <a:spcAft>
                <a:spcPts val="700"/>
              </a:spcAft>
            </a:pPr>
            <a:r>
              <a:rPr sz="1200" b="0" i="0">
                <a:solidFill>
                  <a:srgbClr val="5E5C57"/>
                </a:solidFill>
                <a:latin typeface="Arial"/>
                <a:ea typeface="Arial"/>
                <a:cs typeface="Arial"/>
              </a:rPr>
              <a:t>—  </a:t>
            </a:r>
            <a:r>
              <a:rPr sz="1200" b="0" i="0">
                <a:solidFill>
                  <a:srgbClr val="8A877F"/>
                </a:solidFill>
                <a:latin typeface="Arial"/>
                <a:ea typeface="Arial"/>
                <a:cs typeface="Arial"/>
              </a:rPr>
              <a:t>Edge hosting</a:t>
            </a:r>
          </a:p>
          <a:p>
            <a:pPr algn="l">
              <a:spcAft>
                <a:spcPts val="700"/>
              </a:spcAft>
            </a:pPr>
            <a:r>
              <a:rPr sz="1200" b="0" i="0">
                <a:solidFill>
                  <a:srgbClr val="5E5C57"/>
                </a:solidFill>
                <a:latin typeface="Arial"/>
                <a:ea typeface="Arial"/>
                <a:cs typeface="Arial"/>
              </a:rPr>
              <a:t>—  </a:t>
            </a:r>
            <a:r>
              <a:rPr sz="1200" b="0" i="0">
                <a:solidFill>
                  <a:srgbClr val="8A877F"/>
                </a:solidFill>
                <a:latin typeface="Arial"/>
                <a:ea typeface="Arial"/>
                <a:cs typeface="Arial"/>
              </a:rPr>
              <a:t>Edits on request</a:t>
            </a:r>
          </a:p>
          <a:p>
            <a:pPr algn="l">
              <a:spcAft>
                <a:spcPts val="700"/>
              </a:spcAft>
            </a:pPr>
            <a:r>
              <a:rPr sz="1200" b="0" i="0">
                <a:solidFill>
                  <a:srgbClr val="5E5C57"/>
                </a:solidFill>
                <a:latin typeface="Arial"/>
                <a:ea typeface="Arial"/>
                <a:cs typeface="Arial"/>
              </a:rPr>
              <a:t>—  </a:t>
            </a:r>
            <a:r>
              <a:rPr sz="1200" b="0" i="0">
                <a:solidFill>
                  <a:srgbClr val="8A877F"/>
                </a:solidFill>
                <a:latin typeface="Arial"/>
                <a:ea typeface="Arial"/>
                <a:cs typeface="Arial"/>
              </a:rPr>
              <a:t>Seasonal refreshes</a:t>
            </a:r>
          </a:p>
        </p:txBody>
      </p:sp>
      <p:sp>
        <p:nvSpPr>
          <p:cNvPr id="19" name="TextBox 18"/>
          <p:cNvSpPr txBox="1"/>
          <p:nvPr/>
        </p:nvSpPr>
        <p:spPr>
          <a:xfrm>
            <a:off x="6675120" y="2039112"/>
            <a:ext cx="4830775" cy="274320"/>
          </a:xfrm>
          <a:prstGeom prst="rect">
            <a:avLst/>
          </a:prstGeom>
          <a:noFill/>
        </p:spPr>
        <p:txBody>
          <a:bodyPr wrap="square" lIns="0" rIns="0" tIns="0" bIns="0" anchor="t"/>
          <a:lstStyle/>
          <a:p>
            <a:pPr algn="l"/>
            <a:r>
              <a:rPr sz="1050" b="1" i="0" spc="250">
                <a:solidFill>
                  <a:srgbClr val="8A877F"/>
                </a:solidFill>
                <a:latin typeface="Arial"/>
                <a:ea typeface="Arial"/>
                <a:cs typeface="Arial"/>
              </a:rPr>
              <a:t>UNIT ECONOMICS PER CLAIM</a:t>
            </a:r>
          </a:p>
        </p:txBody>
      </p:sp>
      <p:sp>
        <p:nvSpPr>
          <p:cNvPr id="20" name="TextBox 19"/>
          <p:cNvSpPr txBox="1"/>
          <p:nvPr/>
        </p:nvSpPr>
        <p:spPr>
          <a:xfrm>
            <a:off x="6675120" y="2441448"/>
            <a:ext cx="3184855" cy="365760"/>
          </a:xfrm>
          <a:prstGeom prst="rect">
            <a:avLst/>
          </a:prstGeom>
          <a:noFill/>
        </p:spPr>
        <p:txBody>
          <a:bodyPr wrap="square" lIns="0" rIns="0" tIns="0" bIns="0" anchor="ctr"/>
          <a:lstStyle/>
          <a:p>
            <a:pPr algn="l"/>
            <a:r>
              <a:rPr sz="1300" b="0" i="0">
                <a:solidFill>
                  <a:srgbClr val="F4F1EA"/>
                </a:solidFill>
                <a:latin typeface="Arial"/>
                <a:ea typeface="Arial"/>
                <a:cs typeface="Arial"/>
              </a:rPr>
              <a:t>Launch pack price</a:t>
            </a:r>
          </a:p>
        </p:txBody>
      </p:sp>
      <p:sp>
        <p:nvSpPr>
          <p:cNvPr id="21" name="TextBox 20"/>
          <p:cNvSpPr txBox="1"/>
          <p:nvPr/>
        </p:nvSpPr>
        <p:spPr>
          <a:xfrm>
            <a:off x="9859975" y="2441448"/>
            <a:ext cx="1645920" cy="365760"/>
          </a:xfrm>
          <a:prstGeom prst="rect">
            <a:avLst/>
          </a:prstGeom>
          <a:noFill/>
        </p:spPr>
        <p:txBody>
          <a:bodyPr wrap="square" lIns="0" rIns="0" tIns="0" bIns="0" anchor="ctr"/>
          <a:lstStyle/>
          <a:p>
            <a:pPr algn="r"/>
            <a:r>
              <a:rPr sz="1700" b="0" i="0">
                <a:solidFill>
                  <a:srgbClr val="F4F1EA"/>
                </a:solidFill>
                <a:latin typeface="Georgia"/>
                <a:ea typeface="Georgia"/>
                <a:cs typeface="Georgia"/>
              </a:rPr>
              <a:t>$49.00</a:t>
            </a:r>
          </a:p>
        </p:txBody>
      </p:sp>
      <p:cxnSp>
        <p:nvCxnSpPr>
          <p:cNvPr id="22" name="Connector 21"/>
          <p:cNvCxnSpPr/>
          <p:nvPr/>
        </p:nvCxnSpPr>
        <p:spPr>
          <a:xfrm>
            <a:off x="6675120" y="2898648"/>
            <a:ext cx="4830775" cy="0"/>
          </a:xfrm>
          <a:prstGeom prst="line">
            <a:avLst/>
          </a:prstGeom>
          <a:ln w="9525">
            <a:solidFill>
              <a:srgbClr val="232327"/>
            </a:solidFill>
          </a:ln>
        </p:spPr>
      </p:cxnSp>
      <p:sp>
        <p:nvSpPr>
          <p:cNvPr id="23" name="TextBox 22"/>
          <p:cNvSpPr txBox="1"/>
          <p:nvPr/>
        </p:nvSpPr>
        <p:spPr>
          <a:xfrm>
            <a:off x="6675120" y="2990088"/>
            <a:ext cx="3184855" cy="365760"/>
          </a:xfrm>
          <a:prstGeom prst="rect">
            <a:avLst/>
          </a:prstGeom>
          <a:noFill/>
        </p:spPr>
        <p:txBody>
          <a:bodyPr wrap="square" lIns="0" rIns="0" tIns="0" bIns="0" anchor="ctr"/>
          <a:lstStyle/>
          <a:p>
            <a:pPr algn="l"/>
            <a:r>
              <a:rPr sz="1300" b="0" i="0">
                <a:solidFill>
                  <a:srgbClr val="8A877F"/>
                </a:solidFill>
                <a:latin typeface="Arial"/>
                <a:ea typeface="Arial"/>
                <a:cs typeface="Arial"/>
              </a:rPr>
              <a:t>Stripe fee (2.9% + 30¢)</a:t>
            </a:r>
          </a:p>
        </p:txBody>
      </p:sp>
      <p:sp>
        <p:nvSpPr>
          <p:cNvPr id="24" name="TextBox 23"/>
          <p:cNvSpPr txBox="1"/>
          <p:nvPr/>
        </p:nvSpPr>
        <p:spPr>
          <a:xfrm>
            <a:off x="9859975" y="2990088"/>
            <a:ext cx="1645920" cy="365760"/>
          </a:xfrm>
          <a:prstGeom prst="rect">
            <a:avLst/>
          </a:prstGeom>
          <a:noFill/>
        </p:spPr>
        <p:txBody>
          <a:bodyPr wrap="square" lIns="0" rIns="0" tIns="0" bIns="0" anchor="ctr"/>
          <a:lstStyle/>
          <a:p>
            <a:pPr algn="r"/>
            <a:r>
              <a:rPr sz="1700" b="0" i="0">
                <a:solidFill>
                  <a:srgbClr val="8A877F"/>
                </a:solidFill>
                <a:latin typeface="Georgia"/>
                <a:ea typeface="Georgia"/>
                <a:cs typeface="Georgia"/>
              </a:rPr>
              <a:t>−$1.72</a:t>
            </a:r>
          </a:p>
        </p:txBody>
      </p:sp>
      <p:cxnSp>
        <p:nvCxnSpPr>
          <p:cNvPr id="25" name="Connector 24"/>
          <p:cNvCxnSpPr/>
          <p:nvPr/>
        </p:nvCxnSpPr>
        <p:spPr>
          <a:xfrm>
            <a:off x="6675120" y="3447288"/>
            <a:ext cx="4830775" cy="0"/>
          </a:xfrm>
          <a:prstGeom prst="line">
            <a:avLst/>
          </a:prstGeom>
          <a:ln w="9525">
            <a:solidFill>
              <a:srgbClr val="232327"/>
            </a:solidFill>
          </a:ln>
        </p:spPr>
      </p:cxnSp>
      <p:sp>
        <p:nvSpPr>
          <p:cNvPr id="26" name="TextBox 25"/>
          <p:cNvSpPr txBox="1"/>
          <p:nvPr/>
        </p:nvSpPr>
        <p:spPr>
          <a:xfrm>
            <a:off x="6675120" y="3538728"/>
            <a:ext cx="3184855" cy="365760"/>
          </a:xfrm>
          <a:prstGeom prst="rect">
            <a:avLst/>
          </a:prstGeom>
          <a:noFill/>
        </p:spPr>
        <p:txBody>
          <a:bodyPr wrap="square" lIns="0" rIns="0" tIns="0" bIns="0" anchor="ctr"/>
          <a:lstStyle/>
          <a:p>
            <a:pPr algn="l"/>
            <a:r>
              <a:rPr sz="1300" b="0" i="0">
                <a:solidFill>
                  <a:srgbClr val="8A877F"/>
                </a:solidFill>
                <a:latin typeface="Arial"/>
                <a:ea typeface="Arial"/>
                <a:cs typeface="Arial"/>
              </a:rPr>
              <a:t>Model spend per site (live CFO)</a:t>
            </a:r>
          </a:p>
        </p:txBody>
      </p:sp>
      <p:sp>
        <p:nvSpPr>
          <p:cNvPr id="27" name="TextBox 26"/>
          <p:cNvSpPr txBox="1"/>
          <p:nvPr/>
        </p:nvSpPr>
        <p:spPr>
          <a:xfrm>
            <a:off x="9859975" y="3538728"/>
            <a:ext cx="1645920" cy="365760"/>
          </a:xfrm>
          <a:prstGeom prst="rect">
            <a:avLst/>
          </a:prstGeom>
          <a:noFill/>
        </p:spPr>
        <p:txBody>
          <a:bodyPr wrap="square" lIns="0" rIns="0" tIns="0" bIns="0" anchor="ctr"/>
          <a:lstStyle/>
          <a:p>
            <a:pPr algn="r"/>
            <a:r>
              <a:rPr sz="1700" b="0" i="0">
                <a:solidFill>
                  <a:srgbClr val="8A877F"/>
                </a:solidFill>
                <a:latin typeface="Georgia"/>
                <a:ea typeface="Georgia"/>
                <a:cs typeface="Georgia"/>
              </a:rPr>
              <a:t>−5.7¢</a:t>
            </a:r>
          </a:p>
        </p:txBody>
      </p:sp>
      <p:cxnSp>
        <p:nvCxnSpPr>
          <p:cNvPr id="28" name="Connector 27"/>
          <p:cNvCxnSpPr/>
          <p:nvPr/>
        </p:nvCxnSpPr>
        <p:spPr>
          <a:xfrm>
            <a:off x="6675120" y="3995928"/>
            <a:ext cx="4830775" cy="0"/>
          </a:xfrm>
          <a:prstGeom prst="line">
            <a:avLst/>
          </a:prstGeom>
          <a:ln w="9525">
            <a:solidFill>
              <a:srgbClr val="232327"/>
            </a:solidFill>
          </a:ln>
        </p:spPr>
      </p:cxnSp>
      <p:sp>
        <p:nvSpPr>
          <p:cNvPr id="29" name="TextBox 28"/>
          <p:cNvSpPr txBox="1"/>
          <p:nvPr/>
        </p:nvSpPr>
        <p:spPr>
          <a:xfrm>
            <a:off x="6675120" y="4133087"/>
            <a:ext cx="3184855" cy="457200"/>
          </a:xfrm>
          <a:prstGeom prst="rect">
            <a:avLst/>
          </a:prstGeom>
          <a:noFill/>
        </p:spPr>
        <p:txBody>
          <a:bodyPr wrap="square" lIns="0" rIns="0" tIns="0" bIns="0" anchor="ctr"/>
          <a:lstStyle/>
          <a:p>
            <a:pPr algn="l"/>
            <a:r>
              <a:rPr sz="1300" b="1" i="0">
                <a:solidFill>
                  <a:srgbClr val="F4F1EA"/>
                </a:solidFill>
                <a:latin typeface="Arial"/>
                <a:ea typeface="Arial"/>
                <a:cs typeface="Arial"/>
              </a:rPr>
              <a:t>Gross profit per claim</a:t>
            </a:r>
          </a:p>
        </p:txBody>
      </p:sp>
      <p:sp>
        <p:nvSpPr>
          <p:cNvPr id="30" name="TextBox 29"/>
          <p:cNvSpPr txBox="1"/>
          <p:nvPr/>
        </p:nvSpPr>
        <p:spPr>
          <a:xfrm>
            <a:off x="9311335" y="4133087"/>
            <a:ext cx="2194560" cy="457200"/>
          </a:xfrm>
          <a:prstGeom prst="rect">
            <a:avLst/>
          </a:prstGeom>
          <a:noFill/>
        </p:spPr>
        <p:txBody>
          <a:bodyPr wrap="square" lIns="0" rIns="0" tIns="0" bIns="0" anchor="ctr"/>
          <a:lstStyle/>
          <a:p>
            <a:pPr algn="r"/>
            <a:r>
              <a:rPr sz="2200" b="0" i="0">
                <a:solidFill>
                  <a:srgbClr val="3DDC84"/>
                </a:solidFill>
                <a:latin typeface="Georgia"/>
                <a:ea typeface="Georgia"/>
                <a:cs typeface="Georgia"/>
              </a:rPr>
              <a:t>$47.22</a:t>
            </a:r>
            <a:r>
              <a:rPr sz="1400" b="0" i="0">
                <a:solidFill>
                  <a:srgbClr val="8A877F"/>
                </a:solidFill>
                <a:latin typeface="Georgia"/>
                <a:ea typeface="Georgia"/>
                <a:cs typeface="Georgia"/>
              </a:rPr>
              <a:t>  96%</a:t>
            </a:r>
          </a:p>
        </p:txBody>
      </p:sp>
      <p:sp>
        <p:nvSpPr>
          <p:cNvPr id="31" name="Rounded Rectangle 30"/>
          <p:cNvSpPr/>
          <p:nvPr/>
        </p:nvSpPr>
        <p:spPr>
          <a:xfrm>
            <a:off x="6675120" y="4864607"/>
            <a:ext cx="4830775" cy="960120"/>
          </a:xfrm>
          <a:prstGeom prst="roundRect">
            <a:avLst>
              <a:gd name="adj" fmla="val 11428"/>
            </a:avLst>
          </a:prstGeom>
          <a:solidFill>
            <a:srgbClr val="121214"/>
          </a:solidFill>
          <a:ln w="9525">
            <a:solidFill>
              <a:srgbClr val="232327"/>
            </a:solidFill>
          </a:ln>
        </p:spPr>
        <p:txBody>
          <a:bodyPr rtlCol="0" anchor="ctr"/>
          <a:lstStyle/>
          <a:p/>
        </p:txBody>
      </p:sp>
      <p:sp>
        <p:nvSpPr>
          <p:cNvPr id="32" name="TextBox 31"/>
          <p:cNvSpPr txBox="1"/>
          <p:nvPr/>
        </p:nvSpPr>
        <p:spPr>
          <a:xfrm>
            <a:off x="6949440" y="4864607"/>
            <a:ext cx="4282135" cy="960120"/>
          </a:xfrm>
          <a:prstGeom prst="rect">
            <a:avLst/>
          </a:prstGeom>
          <a:noFill/>
        </p:spPr>
        <p:txBody>
          <a:bodyPr wrap="square" lIns="0" rIns="0" tIns="0" bIns="0" anchor="ctr"/>
          <a:lstStyle/>
          <a:p>
            <a:pPr algn="l">
              <a:lnSpc>
                <a:spcPct val="110000"/>
              </a:lnSpc>
            </a:pPr>
            <a:r>
              <a:rPr sz="1350" b="0" i="0">
                <a:solidFill>
                  <a:srgbClr val="F4F1EA"/>
                </a:solidFill>
                <a:latin typeface="Arial"/>
                <a:ea typeface="Arial"/>
                <a:cs typeface="Arial"/>
              </a:rPr>
              <a:t>One claim pays for </a:t>
            </a:r>
            <a:r>
              <a:rPr sz="2400" b="0" i="0">
                <a:solidFill>
                  <a:srgbClr val="3DDC84"/>
                </a:solidFill>
                <a:latin typeface="Georgia"/>
                <a:ea typeface="Georgia"/>
                <a:cs typeface="Georgia"/>
              </a:rPr>
              <a:t>~827</a:t>
            </a:r>
            <a:r>
              <a:rPr sz="1350" b="0" i="0">
                <a:solidFill>
                  <a:srgbClr val="F4F1EA"/>
                </a:solidFill>
                <a:latin typeface="Arial"/>
                <a:ea typeface="Arial"/>
                <a:cs typeface="Arial"/>
              </a:rPr>
              <a:t> builds nobody buys.</a:t>
            </a:r>
          </a:p>
        </p:txBody>
      </p:sp>
      <p:sp>
        <p:nvSpPr>
          <p:cNvPr id="33" name="TextBox 32"/>
          <p:cNvSpPr txBox="1"/>
          <p:nvPr/>
        </p:nvSpPr>
        <p:spPr>
          <a:xfrm>
            <a:off x="6675120" y="5916167"/>
            <a:ext cx="4830775" cy="274320"/>
          </a:xfrm>
          <a:prstGeom prst="rect">
            <a:avLst/>
          </a:prstGeom>
          <a:noFill/>
        </p:spPr>
        <p:txBody>
          <a:bodyPr wrap="square" lIns="0" rIns="0" tIns="0" bIns="0" anchor="t"/>
          <a:lstStyle/>
          <a:p>
            <a:pPr algn="l"/>
            <a:r>
              <a:rPr sz="800" b="0" i="0">
                <a:solidFill>
                  <a:srgbClr val="5E5C57"/>
                </a:solidFill>
                <a:latin typeface="Arial"/>
                <a:ea typeface="Arial"/>
                <a:cs typeface="Arial"/>
              </a:rPr>
              <a:t>Model spend per site = total CFO spend ÷ sites built, from /api/state. Stripe: https://stripe.com/pricing</a:t>
            </a:r>
          </a:p>
        </p:txBody>
      </p:sp>
      <p:sp>
        <p:nvSpPr>
          <p:cNvPr id="34" name="TextBox 33"/>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35" name="TextBox 34"/>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plai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566928"/>
            <a:ext cx="10820095" cy="274320"/>
          </a:xfrm>
          <a:prstGeom prst="rect">
            <a:avLst/>
          </a:prstGeom>
          <a:noFill/>
        </p:spPr>
        <p:txBody>
          <a:bodyPr wrap="square" lIns="0" rIns="0" tIns="0" bIns="0" anchor="t"/>
          <a:lstStyle/>
          <a:p>
            <a:pPr algn="l"/>
            <a:r>
              <a:rPr sz="900" b="1" i="0" spc="280">
                <a:solidFill>
                  <a:srgbClr val="3DDC84"/>
                </a:solidFill>
                <a:latin typeface="Arial"/>
                <a:ea typeface="Arial"/>
                <a:cs typeface="Arial"/>
              </a:rPr>
              <a:t>●  </a:t>
            </a:r>
            <a:r>
              <a:rPr sz="1100" b="1" i="0" spc="280">
                <a:solidFill>
                  <a:srgbClr val="3DDC84"/>
                </a:solidFill>
                <a:latin typeface="Arial"/>
                <a:ea typeface="Arial"/>
                <a:cs typeface="Arial"/>
              </a:rPr>
              <a:t>LIVE FROM /API/STATE · 2:30 PM PT · SEP 28, 2026</a:t>
            </a:r>
          </a:p>
        </p:txBody>
      </p:sp>
      <p:sp>
        <p:nvSpPr>
          <p:cNvPr id="4" name="TextBox 3"/>
          <p:cNvSpPr txBox="1"/>
          <p:nvPr/>
        </p:nvSpPr>
        <p:spPr>
          <a:xfrm>
            <a:off x="685800" y="896112"/>
            <a:ext cx="10820095" cy="914400"/>
          </a:xfrm>
          <a:prstGeom prst="rect">
            <a:avLst/>
          </a:prstGeom>
          <a:noFill/>
        </p:spPr>
        <p:txBody>
          <a:bodyPr wrap="square" lIns="0" rIns="0" tIns="0" bIns="0" anchor="t"/>
          <a:lstStyle/>
          <a:p>
            <a:pPr algn="l">
              <a:lnSpc>
                <a:spcPct val="95000"/>
              </a:lnSpc>
            </a:pPr>
            <a:r>
              <a:rPr sz="5200" b="0" i="0">
                <a:solidFill>
                  <a:srgbClr val="F4F1EA"/>
                </a:solidFill>
                <a:latin typeface="Georgia"/>
                <a:ea typeface="Georgia"/>
                <a:cs typeface="Georgia"/>
              </a:rPr>
              <a:t>Today, on </a:t>
            </a:r>
            <a:r>
              <a:rPr sz="5200" b="0" i="1">
                <a:solidFill>
                  <a:srgbClr val="F4F1EA"/>
                </a:solidFill>
                <a:latin typeface="Georgia"/>
                <a:ea typeface="Georgia"/>
                <a:cs typeface="Georgia"/>
              </a:rPr>
              <a:t>one block</a:t>
            </a:r>
            <a:r>
              <a:rPr sz="5200" b="0" i="0">
                <a:solidFill>
                  <a:srgbClr val="F4F1EA"/>
                </a:solidFill>
                <a:latin typeface="Georgia"/>
                <a:ea typeface="Georgia"/>
                <a:cs typeface="Georgia"/>
              </a:rPr>
              <a:t>.</a:t>
            </a:r>
          </a:p>
        </p:txBody>
      </p:sp>
      <p:sp>
        <p:nvSpPr>
          <p:cNvPr id="5" name="Rounded Rectangle 4"/>
          <p:cNvSpPr/>
          <p:nvPr/>
        </p:nvSpPr>
        <p:spPr>
          <a:xfrm>
            <a:off x="685800" y="2057400"/>
            <a:ext cx="1635709" cy="1737360"/>
          </a:xfrm>
          <a:prstGeom prst="roundRect">
            <a:avLst>
              <a:gd name="adj" fmla="val 6708"/>
            </a:avLst>
          </a:prstGeom>
          <a:solidFill>
            <a:srgbClr val="121214"/>
          </a:solidFill>
          <a:ln w="9525">
            <a:solidFill>
              <a:srgbClr val="232327"/>
            </a:solidFill>
          </a:ln>
        </p:spPr>
        <p:txBody>
          <a:bodyPr rtlCol="0" anchor="ctr"/>
          <a:lstStyle/>
          <a:p/>
        </p:txBody>
      </p:sp>
      <p:sp>
        <p:nvSpPr>
          <p:cNvPr id="6" name="TextBox 5"/>
          <p:cNvSpPr txBox="1"/>
          <p:nvPr/>
        </p:nvSpPr>
        <p:spPr>
          <a:xfrm>
            <a:off x="914400" y="2240280"/>
            <a:ext cx="1269949" cy="960120"/>
          </a:xfrm>
          <a:prstGeom prst="rect">
            <a:avLst/>
          </a:prstGeom>
          <a:noFill/>
        </p:spPr>
        <p:txBody>
          <a:bodyPr wrap="square" lIns="0" rIns="0" tIns="0" bIns="0" anchor="t"/>
          <a:lstStyle/>
          <a:p>
            <a:pPr algn="l"/>
            <a:r>
              <a:rPr sz="5800" b="0" i="0">
                <a:solidFill>
                  <a:srgbClr val="F4F1EA"/>
                </a:solidFill>
                <a:latin typeface="Georgia"/>
                <a:ea typeface="Georgia"/>
                <a:cs typeface="Georgia"/>
              </a:rPr>
              <a:t>24</a:t>
            </a:r>
          </a:p>
        </p:txBody>
      </p:sp>
      <p:sp>
        <p:nvSpPr>
          <p:cNvPr id="7" name="TextBox 6"/>
          <p:cNvSpPr txBox="1"/>
          <p:nvPr/>
        </p:nvSpPr>
        <p:spPr>
          <a:xfrm>
            <a:off x="914400" y="3246120"/>
            <a:ext cx="1269949" cy="274320"/>
          </a:xfrm>
          <a:prstGeom prst="rect">
            <a:avLst/>
          </a:prstGeom>
          <a:noFill/>
        </p:spPr>
        <p:txBody>
          <a:bodyPr wrap="square" lIns="0" rIns="0" tIns="0" bIns="0" anchor="t"/>
          <a:lstStyle/>
          <a:p>
            <a:pPr algn="l"/>
            <a:r>
              <a:rPr sz="1250" b="1" i="0">
                <a:solidFill>
                  <a:srgbClr val="F4F1EA"/>
                </a:solidFill>
                <a:latin typeface="Arial"/>
                <a:ea typeface="Arial"/>
                <a:cs typeface="Arial"/>
              </a:rPr>
              <a:t>Scouted</a:t>
            </a:r>
          </a:p>
        </p:txBody>
      </p:sp>
      <p:cxnSp>
        <p:nvCxnSpPr>
          <p:cNvPr id="8" name="Connector 7"/>
          <p:cNvCxnSpPr/>
          <p:nvPr/>
        </p:nvCxnSpPr>
        <p:spPr>
          <a:xfrm>
            <a:off x="2348941" y="2926080"/>
            <a:ext cx="146304" cy="0"/>
          </a:xfrm>
          <a:prstGeom prst="line">
            <a:avLst/>
          </a:prstGeom>
          <a:ln w="12700">
            <a:solidFill>
              <a:srgbClr val="5E5C57"/>
            </a:solidFill>
            <a:tailEnd type="triangle" w="med" len="med"/>
          </a:ln>
        </p:spPr>
      </p:cxnSp>
      <p:sp>
        <p:nvSpPr>
          <p:cNvPr id="9" name="Rounded Rectangle 8"/>
          <p:cNvSpPr/>
          <p:nvPr/>
        </p:nvSpPr>
        <p:spPr>
          <a:xfrm>
            <a:off x="2522677" y="2057400"/>
            <a:ext cx="1635709" cy="1737360"/>
          </a:xfrm>
          <a:prstGeom prst="roundRect">
            <a:avLst>
              <a:gd name="adj" fmla="val 6708"/>
            </a:avLst>
          </a:prstGeom>
          <a:solidFill>
            <a:srgbClr val="121214"/>
          </a:solidFill>
          <a:ln w="9525">
            <a:solidFill>
              <a:srgbClr val="232327"/>
            </a:solidFill>
          </a:ln>
        </p:spPr>
        <p:txBody>
          <a:bodyPr rtlCol="0" anchor="ctr"/>
          <a:lstStyle/>
          <a:p/>
        </p:txBody>
      </p:sp>
      <p:sp>
        <p:nvSpPr>
          <p:cNvPr id="10" name="TextBox 9"/>
          <p:cNvSpPr txBox="1"/>
          <p:nvPr/>
        </p:nvSpPr>
        <p:spPr>
          <a:xfrm>
            <a:off x="2751277" y="2240280"/>
            <a:ext cx="1269949" cy="960120"/>
          </a:xfrm>
          <a:prstGeom prst="rect">
            <a:avLst/>
          </a:prstGeom>
          <a:noFill/>
        </p:spPr>
        <p:txBody>
          <a:bodyPr wrap="square" lIns="0" rIns="0" tIns="0" bIns="0" anchor="t"/>
          <a:lstStyle/>
          <a:p>
            <a:pPr algn="l"/>
            <a:r>
              <a:rPr sz="5800" b="0" i="0">
                <a:solidFill>
                  <a:srgbClr val="F4F1EA"/>
                </a:solidFill>
                <a:latin typeface="Georgia"/>
                <a:ea typeface="Georgia"/>
                <a:cs typeface="Georgia"/>
              </a:rPr>
              <a:t>15</a:t>
            </a:r>
          </a:p>
        </p:txBody>
      </p:sp>
      <p:sp>
        <p:nvSpPr>
          <p:cNvPr id="11" name="TextBox 10"/>
          <p:cNvSpPr txBox="1"/>
          <p:nvPr/>
        </p:nvSpPr>
        <p:spPr>
          <a:xfrm>
            <a:off x="2751277" y="3246120"/>
            <a:ext cx="1269949" cy="274320"/>
          </a:xfrm>
          <a:prstGeom prst="rect">
            <a:avLst/>
          </a:prstGeom>
          <a:noFill/>
        </p:spPr>
        <p:txBody>
          <a:bodyPr wrap="square" lIns="0" rIns="0" tIns="0" bIns="0" anchor="t"/>
          <a:lstStyle/>
          <a:p>
            <a:pPr algn="l"/>
            <a:r>
              <a:rPr sz="1250" b="1" i="0">
                <a:solidFill>
                  <a:srgbClr val="F4F1EA"/>
                </a:solidFill>
                <a:latin typeface="Arial"/>
                <a:ea typeface="Arial"/>
                <a:cs typeface="Arial"/>
              </a:rPr>
              <a:t>Built</a:t>
            </a:r>
          </a:p>
        </p:txBody>
      </p:sp>
      <p:cxnSp>
        <p:nvCxnSpPr>
          <p:cNvPr id="12" name="Connector 11"/>
          <p:cNvCxnSpPr/>
          <p:nvPr/>
        </p:nvCxnSpPr>
        <p:spPr>
          <a:xfrm>
            <a:off x="4185818" y="2926080"/>
            <a:ext cx="146304" cy="0"/>
          </a:xfrm>
          <a:prstGeom prst="line">
            <a:avLst/>
          </a:prstGeom>
          <a:ln w="12700">
            <a:solidFill>
              <a:srgbClr val="5E5C57"/>
            </a:solidFill>
            <a:tailEnd type="triangle" w="med" len="med"/>
          </a:ln>
        </p:spPr>
      </p:cxnSp>
      <p:sp>
        <p:nvSpPr>
          <p:cNvPr id="13" name="Rounded Rectangle 12"/>
          <p:cNvSpPr/>
          <p:nvPr/>
        </p:nvSpPr>
        <p:spPr>
          <a:xfrm>
            <a:off x="4359554" y="2057400"/>
            <a:ext cx="1635709" cy="1737360"/>
          </a:xfrm>
          <a:prstGeom prst="roundRect">
            <a:avLst>
              <a:gd name="adj" fmla="val 6708"/>
            </a:avLst>
          </a:prstGeom>
          <a:solidFill>
            <a:srgbClr val="121214"/>
          </a:solidFill>
          <a:ln w="9525">
            <a:solidFill>
              <a:srgbClr val="232327"/>
            </a:solidFill>
          </a:ln>
        </p:spPr>
        <p:txBody>
          <a:bodyPr rtlCol="0" anchor="ctr"/>
          <a:lstStyle/>
          <a:p/>
        </p:txBody>
      </p:sp>
      <p:sp>
        <p:nvSpPr>
          <p:cNvPr id="14" name="TextBox 13"/>
          <p:cNvSpPr txBox="1"/>
          <p:nvPr/>
        </p:nvSpPr>
        <p:spPr>
          <a:xfrm>
            <a:off x="4588154" y="2240280"/>
            <a:ext cx="1269949" cy="960120"/>
          </a:xfrm>
          <a:prstGeom prst="rect">
            <a:avLst/>
          </a:prstGeom>
          <a:noFill/>
        </p:spPr>
        <p:txBody>
          <a:bodyPr wrap="square" lIns="0" rIns="0" tIns="0" bIns="0" anchor="t"/>
          <a:lstStyle/>
          <a:p>
            <a:pPr algn="l"/>
            <a:r>
              <a:rPr sz="5800" b="0" i="0">
                <a:solidFill>
                  <a:srgbClr val="F4F1EA"/>
                </a:solidFill>
                <a:latin typeface="Georgia"/>
                <a:ea typeface="Georgia"/>
                <a:cs typeface="Georgia"/>
              </a:rPr>
              <a:t>14</a:t>
            </a:r>
          </a:p>
        </p:txBody>
      </p:sp>
      <p:sp>
        <p:nvSpPr>
          <p:cNvPr id="15" name="TextBox 14"/>
          <p:cNvSpPr txBox="1"/>
          <p:nvPr/>
        </p:nvSpPr>
        <p:spPr>
          <a:xfrm>
            <a:off x="4588154" y="3246120"/>
            <a:ext cx="1269949" cy="274320"/>
          </a:xfrm>
          <a:prstGeom prst="rect">
            <a:avLst/>
          </a:prstGeom>
          <a:noFill/>
        </p:spPr>
        <p:txBody>
          <a:bodyPr wrap="square" lIns="0" rIns="0" tIns="0" bIns="0" anchor="t"/>
          <a:lstStyle/>
          <a:p>
            <a:pPr algn="l"/>
            <a:r>
              <a:rPr sz="1250" b="1" i="0">
                <a:solidFill>
                  <a:srgbClr val="F4F1EA"/>
                </a:solidFill>
                <a:latin typeface="Arial"/>
                <a:ea typeface="Arial"/>
                <a:cs typeface="Arial"/>
              </a:rPr>
              <a:t>Taste-passed</a:t>
            </a:r>
          </a:p>
        </p:txBody>
      </p:sp>
      <p:cxnSp>
        <p:nvCxnSpPr>
          <p:cNvPr id="16" name="Connector 15"/>
          <p:cNvCxnSpPr/>
          <p:nvPr/>
        </p:nvCxnSpPr>
        <p:spPr>
          <a:xfrm>
            <a:off x="6022695" y="2926080"/>
            <a:ext cx="146304" cy="0"/>
          </a:xfrm>
          <a:prstGeom prst="line">
            <a:avLst/>
          </a:prstGeom>
          <a:ln w="12700">
            <a:solidFill>
              <a:srgbClr val="5E5C57"/>
            </a:solidFill>
            <a:tailEnd type="triangle" w="med" len="med"/>
          </a:ln>
        </p:spPr>
      </p:cxnSp>
      <p:sp>
        <p:nvSpPr>
          <p:cNvPr id="17" name="Rounded Rectangle 16"/>
          <p:cNvSpPr/>
          <p:nvPr/>
        </p:nvSpPr>
        <p:spPr>
          <a:xfrm>
            <a:off x="6196431" y="2057400"/>
            <a:ext cx="1635709" cy="1737360"/>
          </a:xfrm>
          <a:prstGeom prst="roundRect">
            <a:avLst>
              <a:gd name="adj" fmla="val 6708"/>
            </a:avLst>
          </a:prstGeom>
          <a:solidFill>
            <a:srgbClr val="121214"/>
          </a:solidFill>
          <a:ln w="9525">
            <a:solidFill>
              <a:srgbClr val="232327"/>
            </a:solidFill>
          </a:ln>
        </p:spPr>
        <p:txBody>
          <a:bodyPr rtlCol="0" anchor="ctr"/>
          <a:lstStyle/>
          <a:p/>
        </p:txBody>
      </p:sp>
      <p:sp>
        <p:nvSpPr>
          <p:cNvPr id="18" name="TextBox 17"/>
          <p:cNvSpPr txBox="1"/>
          <p:nvPr/>
        </p:nvSpPr>
        <p:spPr>
          <a:xfrm>
            <a:off x="6425031" y="2240280"/>
            <a:ext cx="1269949" cy="960120"/>
          </a:xfrm>
          <a:prstGeom prst="rect">
            <a:avLst/>
          </a:prstGeom>
          <a:noFill/>
        </p:spPr>
        <p:txBody>
          <a:bodyPr wrap="square" lIns="0" rIns="0" tIns="0" bIns="0" anchor="t"/>
          <a:lstStyle/>
          <a:p>
            <a:pPr algn="l"/>
            <a:r>
              <a:rPr sz="5800" b="0" i="0">
                <a:solidFill>
                  <a:srgbClr val="F4F1EA"/>
                </a:solidFill>
                <a:latin typeface="Georgia"/>
                <a:ea typeface="Georgia"/>
                <a:cs typeface="Georgia"/>
              </a:rPr>
              <a:t>0</a:t>
            </a:r>
          </a:p>
        </p:txBody>
      </p:sp>
      <p:sp>
        <p:nvSpPr>
          <p:cNvPr id="19" name="TextBox 18"/>
          <p:cNvSpPr txBox="1"/>
          <p:nvPr/>
        </p:nvSpPr>
        <p:spPr>
          <a:xfrm>
            <a:off x="6425031" y="3246120"/>
            <a:ext cx="1269949" cy="274320"/>
          </a:xfrm>
          <a:prstGeom prst="rect">
            <a:avLst/>
          </a:prstGeom>
          <a:noFill/>
        </p:spPr>
        <p:txBody>
          <a:bodyPr wrap="square" lIns="0" rIns="0" tIns="0" bIns="0" anchor="t"/>
          <a:lstStyle/>
          <a:p>
            <a:pPr algn="l"/>
            <a:r>
              <a:rPr sz="1250" b="1" i="0">
                <a:solidFill>
                  <a:srgbClr val="F4F1EA"/>
                </a:solidFill>
                <a:latin typeface="Arial"/>
                <a:ea typeface="Arial"/>
                <a:cs typeface="Arial"/>
              </a:rPr>
              <a:t>Contacted</a:t>
            </a:r>
          </a:p>
        </p:txBody>
      </p:sp>
      <p:cxnSp>
        <p:nvCxnSpPr>
          <p:cNvPr id="20" name="Connector 19"/>
          <p:cNvCxnSpPr/>
          <p:nvPr/>
        </p:nvCxnSpPr>
        <p:spPr>
          <a:xfrm>
            <a:off x="7859572" y="2926080"/>
            <a:ext cx="146304" cy="0"/>
          </a:xfrm>
          <a:prstGeom prst="line">
            <a:avLst/>
          </a:prstGeom>
          <a:ln w="12700">
            <a:solidFill>
              <a:srgbClr val="5E5C57"/>
            </a:solidFill>
            <a:tailEnd type="triangle" w="med" len="med"/>
          </a:ln>
        </p:spPr>
      </p:cxnSp>
      <p:sp>
        <p:nvSpPr>
          <p:cNvPr id="21" name="Rounded Rectangle 20"/>
          <p:cNvSpPr/>
          <p:nvPr/>
        </p:nvSpPr>
        <p:spPr>
          <a:xfrm>
            <a:off x="8033308" y="2057400"/>
            <a:ext cx="1635709" cy="1737360"/>
          </a:xfrm>
          <a:prstGeom prst="roundRect">
            <a:avLst>
              <a:gd name="adj" fmla="val 6708"/>
            </a:avLst>
          </a:prstGeom>
          <a:solidFill>
            <a:srgbClr val="121214"/>
          </a:solidFill>
          <a:ln w="9525">
            <a:solidFill>
              <a:srgbClr val="232327"/>
            </a:solidFill>
          </a:ln>
        </p:spPr>
        <p:txBody>
          <a:bodyPr rtlCol="0" anchor="ctr"/>
          <a:lstStyle/>
          <a:p/>
        </p:txBody>
      </p:sp>
      <p:sp>
        <p:nvSpPr>
          <p:cNvPr id="22" name="TextBox 21"/>
          <p:cNvSpPr txBox="1"/>
          <p:nvPr/>
        </p:nvSpPr>
        <p:spPr>
          <a:xfrm>
            <a:off x="8261908" y="2240280"/>
            <a:ext cx="1269949" cy="960120"/>
          </a:xfrm>
          <a:prstGeom prst="rect">
            <a:avLst/>
          </a:prstGeom>
          <a:noFill/>
        </p:spPr>
        <p:txBody>
          <a:bodyPr wrap="square" lIns="0" rIns="0" tIns="0" bIns="0" anchor="t"/>
          <a:lstStyle/>
          <a:p>
            <a:pPr algn="l"/>
            <a:r>
              <a:rPr sz="5800" b="0" i="0">
                <a:solidFill>
                  <a:srgbClr val="F4F1EA"/>
                </a:solidFill>
                <a:latin typeface="Georgia"/>
                <a:ea typeface="Georgia"/>
                <a:cs typeface="Georgia"/>
              </a:rPr>
              <a:t>0</a:t>
            </a:r>
          </a:p>
        </p:txBody>
      </p:sp>
      <p:sp>
        <p:nvSpPr>
          <p:cNvPr id="23" name="TextBox 22"/>
          <p:cNvSpPr txBox="1"/>
          <p:nvPr/>
        </p:nvSpPr>
        <p:spPr>
          <a:xfrm>
            <a:off x="8261908" y="3246120"/>
            <a:ext cx="1269949" cy="274320"/>
          </a:xfrm>
          <a:prstGeom prst="rect">
            <a:avLst/>
          </a:prstGeom>
          <a:noFill/>
        </p:spPr>
        <p:txBody>
          <a:bodyPr wrap="square" lIns="0" rIns="0" tIns="0" bIns="0" anchor="t"/>
          <a:lstStyle/>
          <a:p>
            <a:pPr algn="l"/>
            <a:r>
              <a:rPr sz="1250" b="1" i="0">
                <a:solidFill>
                  <a:srgbClr val="F4F1EA"/>
                </a:solidFill>
                <a:latin typeface="Arial"/>
                <a:ea typeface="Arial"/>
                <a:cs typeface="Arial"/>
              </a:rPr>
              <a:t>Replied</a:t>
            </a:r>
          </a:p>
        </p:txBody>
      </p:sp>
      <p:cxnSp>
        <p:nvCxnSpPr>
          <p:cNvPr id="24" name="Connector 23"/>
          <p:cNvCxnSpPr/>
          <p:nvPr/>
        </p:nvCxnSpPr>
        <p:spPr>
          <a:xfrm>
            <a:off x="9696450" y="2926080"/>
            <a:ext cx="146304" cy="0"/>
          </a:xfrm>
          <a:prstGeom prst="line">
            <a:avLst/>
          </a:prstGeom>
          <a:ln w="12700">
            <a:solidFill>
              <a:srgbClr val="5E5C57"/>
            </a:solidFill>
            <a:tailEnd type="triangle" w="med" len="med"/>
          </a:ln>
        </p:spPr>
      </p:cxnSp>
      <p:sp>
        <p:nvSpPr>
          <p:cNvPr id="25" name="Rounded Rectangle 24"/>
          <p:cNvSpPr/>
          <p:nvPr/>
        </p:nvSpPr>
        <p:spPr>
          <a:xfrm>
            <a:off x="9870186" y="2057400"/>
            <a:ext cx="1635709" cy="1737360"/>
          </a:xfrm>
          <a:prstGeom prst="roundRect">
            <a:avLst>
              <a:gd name="adj" fmla="val 6708"/>
            </a:avLst>
          </a:prstGeom>
          <a:solidFill>
            <a:srgbClr val="121214"/>
          </a:solidFill>
          <a:ln w="15875">
            <a:solidFill>
              <a:srgbClr val="3DDC84"/>
            </a:solidFill>
          </a:ln>
        </p:spPr>
        <p:txBody>
          <a:bodyPr rtlCol="0" anchor="ctr"/>
          <a:lstStyle/>
          <a:p/>
        </p:txBody>
      </p:sp>
      <p:sp>
        <p:nvSpPr>
          <p:cNvPr id="26" name="TextBox 25"/>
          <p:cNvSpPr txBox="1"/>
          <p:nvPr/>
        </p:nvSpPr>
        <p:spPr>
          <a:xfrm>
            <a:off x="10098786" y="2240280"/>
            <a:ext cx="1269949" cy="960120"/>
          </a:xfrm>
          <a:prstGeom prst="rect">
            <a:avLst/>
          </a:prstGeom>
          <a:noFill/>
        </p:spPr>
        <p:txBody>
          <a:bodyPr wrap="square" lIns="0" rIns="0" tIns="0" bIns="0" anchor="t"/>
          <a:lstStyle/>
          <a:p>
            <a:pPr algn="l"/>
            <a:r>
              <a:rPr sz="5800" b="0" i="0">
                <a:solidFill>
                  <a:srgbClr val="3DDC84"/>
                </a:solidFill>
                <a:latin typeface="Georgia"/>
                <a:ea typeface="Georgia"/>
                <a:cs typeface="Georgia"/>
              </a:rPr>
              <a:t>0</a:t>
            </a:r>
          </a:p>
        </p:txBody>
      </p:sp>
      <p:sp>
        <p:nvSpPr>
          <p:cNvPr id="27" name="TextBox 26"/>
          <p:cNvSpPr txBox="1"/>
          <p:nvPr/>
        </p:nvSpPr>
        <p:spPr>
          <a:xfrm>
            <a:off x="10098786" y="3246120"/>
            <a:ext cx="1269949" cy="274320"/>
          </a:xfrm>
          <a:prstGeom prst="rect">
            <a:avLst/>
          </a:prstGeom>
          <a:noFill/>
        </p:spPr>
        <p:txBody>
          <a:bodyPr wrap="square" lIns="0" rIns="0" tIns="0" bIns="0" anchor="t"/>
          <a:lstStyle/>
          <a:p>
            <a:pPr algn="l"/>
            <a:r>
              <a:rPr sz="1250" b="1" i="0">
                <a:solidFill>
                  <a:srgbClr val="F4F1EA"/>
                </a:solidFill>
                <a:latin typeface="Arial"/>
                <a:ea typeface="Arial"/>
                <a:cs typeface="Arial"/>
              </a:rPr>
              <a:t>Paid</a:t>
            </a:r>
          </a:p>
        </p:txBody>
      </p:sp>
      <p:sp>
        <p:nvSpPr>
          <p:cNvPr id="28" name="Rounded Rectangle 27"/>
          <p:cNvSpPr/>
          <p:nvPr/>
        </p:nvSpPr>
        <p:spPr>
          <a:xfrm>
            <a:off x="685800" y="4069080"/>
            <a:ext cx="4023360" cy="1600200"/>
          </a:xfrm>
          <a:prstGeom prst="roundRect">
            <a:avLst>
              <a:gd name="adj" fmla="val 6857"/>
            </a:avLst>
          </a:prstGeom>
          <a:solidFill>
            <a:srgbClr val="121214"/>
          </a:solidFill>
          <a:ln w="15875">
            <a:solidFill>
              <a:srgbClr val="3DDC84"/>
            </a:solidFill>
          </a:ln>
        </p:spPr>
        <p:txBody>
          <a:bodyPr rtlCol="0" anchor="ctr"/>
          <a:lstStyle/>
          <a:p/>
        </p:txBody>
      </p:sp>
      <p:sp>
        <p:nvSpPr>
          <p:cNvPr id="29" name="TextBox 28"/>
          <p:cNvSpPr txBox="1"/>
          <p:nvPr/>
        </p:nvSpPr>
        <p:spPr>
          <a:xfrm>
            <a:off x="960120" y="4251960"/>
            <a:ext cx="3474720" cy="274320"/>
          </a:xfrm>
          <a:prstGeom prst="rect">
            <a:avLst/>
          </a:prstGeom>
          <a:noFill/>
        </p:spPr>
        <p:txBody>
          <a:bodyPr wrap="square" lIns="0" rIns="0" tIns="0" bIns="0" anchor="t"/>
          <a:lstStyle/>
          <a:p>
            <a:pPr algn="l"/>
            <a:r>
              <a:rPr sz="1050" b="1" i="0" spc="200">
                <a:solidFill>
                  <a:srgbClr val="3DDC84"/>
                </a:solidFill>
                <a:latin typeface="Arial"/>
                <a:ea typeface="Arial"/>
                <a:cs typeface="Arial"/>
              </a:rPr>
              <a:t>REVENUE · STRIPE TEST MODE</a:t>
            </a:r>
          </a:p>
        </p:txBody>
      </p:sp>
      <p:sp>
        <p:nvSpPr>
          <p:cNvPr id="30" name="TextBox 29"/>
          <p:cNvSpPr txBox="1"/>
          <p:nvPr/>
        </p:nvSpPr>
        <p:spPr>
          <a:xfrm>
            <a:off x="960120" y="4526280"/>
            <a:ext cx="3474720" cy="1005840"/>
          </a:xfrm>
          <a:prstGeom prst="rect">
            <a:avLst/>
          </a:prstGeom>
          <a:noFill/>
        </p:spPr>
        <p:txBody>
          <a:bodyPr wrap="square" lIns="0" rIns="0" tIns="0" bIns="0" anchor="ctr"/>
          <a:lstStyle/>
          <a:p>
            <a:pPr algn="l"/>
            <a:r>
              <a:rPr sz="6000" b="0" i="0">
                <a:solidFill>
                  <a:srgbClr val="3DDC84"/>
                </a:solidFill>
                <a:latin typeface="Georgia"/>
                <a:ea typeface="Georgia"/>
                <a:cs typeface="Georgia"/>
              </a:rPr>
              <a:t>$0</a:t>
            </a:r>
          </a:p>
        </p:txBody>
      </p:sp>
      <p:sp>
        <p:nvSpPr>
          <p:cNvPr id="31" name="Rounded Rectangle 30"/>
          <p:cNvSpPr/>
          <p:nvPr/>
        </p:nvSpPr>
        <p:spPr>
          <a:xfrm>
            <a:off x="4983480" y="4069080"/>
            <a:ext cx="2040026" cy="1600200"/>
          </a:xfrm>
          <a:prstGeom prst="roundRect">
            <a:avLst>
              <a:gd name="adj" fmla="val 6857"/>
            </a:avLst>
          </a:prstGeom>
          <a:solidFill>
            <a:srgbClr val="121214"/>
          </a:solidFill>
          <a:ln w="9525">
            <a:solidFill>
              <a:srgbClr val="232327"/>
            </a:solidFill>
          </a:ln>
        </p:spPr>
        <p:txBody>
          <a:bodyPr rtlCol="0" anchor="ctr"/>
          <a:lstStyle/>
          <a:p/>
        </p:txBody>
      </p:sp>
      <p:sp>
        <p:nvSpPr>
          <p:cNvPr id="32" name="TextBox 31"/>
          <p:cNvSpPr txBox="1"/>
          <p:nvPr/>
        </p:nvSpPr>
        <p:spPr>
          <a:xfrm>
            <a:off x="5257800" y="4251960"/>
            <a:ext cx="1582826" cy="274320"/>
          </a:xfrm>
          <a:prstGeom prst="rect">
            <a:avLst/>
          </a:prstGeom>
          <a:noFill/>
        </p:spPr>
        <p:txBody>
          <a:bodyPr wrap="square" lIns="0" rIns="0" tIns="0" bIns="0" anchor="t"/>
          <a:lstStyle/>
          <a:p>
            <a:pPr algn="l"/>
            <a:r>
              <a:rPr sz="1050" b="1" i="0" spc="200">
                <a:solidFill>
                  <a:srgbClr val="8A877F"/>
                </a:solidFill>
                <a:latin typeface="Arial"/>
                <a:ea typeface="Arial"/>
                <a:cs typeface="Arial"/>
              </a:rPr>
              <a:t>MODEL SPEND</a:t>
            </a:r>
          </a:p>
        </p:txBody>
      </p:sp>
      <p:sp>
        <p:nvSpPr>
          <p:cNvPr id="33" name="TextBox 32"/>
          <p:cNvSpPr txBox="1"/>
          <p:nvPr/>
        </p:nvSpPr>
        <p:spPr>
          <a:xfrm>
            <a:off x="5257800" y="4572000"/>
            <a:ext cx="1582826" cy="914400"/>
          </a:xfrm>
          <a:prstGeom prst="rect">
            <a:avLst/>
          </a:prstGeom>
          <a:noFill/>
        </p:spPr>
        <p:txBody>
          <a:bodyPr wrap="square" lIns="0" rIns="0" tIns="0" bIns="0" anchor="ctr"/>
          <a:lstStyle/>
          <a:p>
            <a:pPr algn="l"/>
            <a:r>
              <a:rPr sz="4000" b="0" i="0">
                <a:solidFill>
                  <a:srgbClr val="F4F1EA"/>
                </a:solidFill>
                <a:latin typeface="Georgia"/>
                <a:ea typeface="Georgia"/>
                <a:cs typeface="Georgia"/>
              </a:rPr>
              <a:t>85.7¢</a:t>
            </a:r>
          </a:p>
        </p:txBody>
      </p:sp>
      <p:sp>
        <p:nvSpPr>
          <p:cNvPr id="34" name="Rounded Rectangle 33"/>
          <p:cNvSpPr/>
          <p:nvPr/>
        </p:nvSpPr>
        <p:spPr>
          <a:xfrm>
            <a:off x="7224674" y="4069080"/>
            <a:ext cx="2040026" cy="1600200"/>
          </a:xfrm>
          <a:prstGeom prst="roundRect">
            <a:avLst>
              <a:gd name="adj" fmla="val 6857"/>
            </a:avLst>
          </a:prstGeom>
          <a:solidFill>
            <a:srgbClr val="121214"/>
          </a:solidFill>
          <a:ln w="9525">
            <a:solidFill>
              <a:srgbClr val="232327"/>
            </a:solidFill>
          </a:ln>
        </p:spPr>
        <p:txBody>
          <a:bodyPr rtlCol="0" anchor="ctr"/>
          <a:lstStyle/>
          <a:p/>
        </p:txBody>
      </p:sp>
      <p:sp>
        <p:nvSpPr>
          <p:cNvPr id="35" name="TextBox 34"/>
          <p:cNvSpPr txBox="1"/>
          <p:nvPr/>
        </p:nvSpPr>
        <p:spPr>
          <a:xfrm>
            <a:off x="7498994" y="4251960"/>
            <a:ext cx="1582826" cy="274320"/>
          </a:xfrm>
          <a:prstGeom prst="rect">
            <a:avLst/>
          </a:prstGeom>
          <a:noFill/>
        </p:spPr>
        <p:txBody>
          <a:bodyPr wrap="square" lIns="0" rIns="0" tIns="0" bIns="0" anchor="t"/>
          <a:lstStyle/>
          <a:p>
            <a:pPr algn="l"/>
            <a:r>
              <a:rPr sz="1050" b="1" i="0" spc="200">
                <a:solidFill>
                  <a:srgbClr val="8A877F"/>
                </a:solidFill>
                <a:latin typeface="Arial"/>
                <a:ea typeface="Arial"/>
                <a:cs typeface="Arial"/>
              </a:rPr>
              <a:t>AVG BUILD</a:t>
            </a:r>
          </a:p>
        </p:txBody>
      </p:sp>
      <p:sp>
        <p:nvSpPr>
          <p:cNvPr id="36" name="TextBox 35"/>
          <p:cNvSpPr txBox="1"/>
          <p:nvPr/>
        </p:nvSpPr>
        <p:spPr>
          <a:xfrm>
            <a:off x="7498994" y="4572000"/>
            <a:ext cx="1582826" cy="914400"/>
          </a:xfrm>
          <a:prstGeom prst="rect">
            <a:avLst/>
          </a:prstGeom>
          <a:noFill/>
        </p:spPr>
        <p:txBody>
          <a:bodyPr wrap="square" lIns="0" rIns="0" tIns="0" bIns="0" anchor="ctr"/>
          <a:lstStyle/>
          <a:p>
            <a:pPr algn="l"/>
            <a:r>
              <a:rPr sz="4000" b="0" i="0">
                <a:solidFill>
                  <a:srgbClr val="F4F1EA"/>
                </a:solidFill>
                <a:latin typeface="Georgia"/>
                <a:ea typeface="Georgia"/>
                <a:cs typeface="Georgia"/>
              </a:rPr>
              <a:t>1m 07s</a:t>
            </a:r>
          </a:p>
        </p:txBody>
      </p:sp>
      <p:sp>
        <p:nvSpPr>
          <p:cNvPr id="37" name="Rounded Rectangle 36"/>
          <p:cNvSpPr/>
          <p:nvPr/>
        </p:nvSpPr>
        <p:spPr>
          <a:xfrm>
            <a:off x="9465868" y="4069080"/>
            <a:ext cx="2040026" cy="1600200"/>
          </a:xfrm>
          <a:prstGeom prst="roundRect">
            <a:avLst>
              <a:gd name="adj" fmla="val 6857"/>
            </a:avLst>
          </a:prstGeom>
          <a:solidFill>
            <a:srgbClr val="121214"/>
          </a:solidFill>
          <a:ln w="9525">
            <a:solidFill>
              <a:srgbClr val="232327"/>
            </a:solidFill>
          </a:ln>
        </p:spPr>
        <p:txBody>
          <a:bodyPr rtlCol="0" anchor="ctr"/>
          <a:lstStyle/>
          <a:p/>
        </p:txBody>
      </p:sp>
      <p:sp>
        <p:nvSpPr>
          <p:cNvPr id="38" name="TextBox 37"/>
          <p:cNvSpPr txBox="1"/>
          <p:nvPr/>
        </p:nvSpPr>
        <p:spPr>
          <a:xfrm>
            <a:off x="9740188" y="4251960"/>
            <a:ext cx="1582826" cy="274320"/>
          </a:xfrm>
          <a:prstGeom prst="rect">
            <a:avLst/>
          </a:prstGeom>
          <a:noFill/>
        </p:spPr>
        <p:txBody>
          <a:bodyPr wrap="square" lIns="0" rIns="0" tIns="0" bIns="0" anchor="t"/>
          <a:lstStyle/>
          <a:p>
            <a:pPr algn="l"/>
            <a:r>
              <a:rPr sz="1050" b="1" i="0" spc="200">
                <a:solidFill>
                  <a:srgbClr val="8A877F"/>
                </a:solidFill>
                <a:latin typeface="Arial"/>
                <a:ea typeface="Arial"/>
                <a:cs typeface="Arial"/>
              </a:rPr>
              <a:t>FASTEST BUILD</a:t>
            </a:r>
          </a:p>
        </p:txBody>
      </p:sp>
      <p:sp>
        <p:nvSpPr>
          <p:cNvPr id="39" name="TextBox 38"/>
          <p:cNvSpPr txBox="1"/>
          <p:nvPr/>
        </p:nvSpPr>
        <p:spPr>
          <a:xfrm>
            <a:off x="9740188" y="4572000"/>
            <a:ext cx="1582826" cy="914400"/>
          </a:xfrm>
          <a:prstGeom prst="rect">
            <a:avLst/>
          </a:prstGeom>
          <a:noFill/>
        </p:spPr>
        <p:txBody>
          <a:bodyPr wrap="square" lIns="0" rIns="0" tIns="0" bIns="0" anchor="ctr"/>
          <a:lstStyle/>
          <a:p>
            <a:pPr algn="l"/>
            <a:r>
              <a:rPr sz="4000" b="0" i="0">
                <a:solidFill>
                  <a:srgbClr val="F4F1EA"/>
                </a:solidFill>
                <a:latin typeface="Georgia"/>
                <a:ea typeface="Georgia"/>
                <a:cs typeface="Georgia"/>
              </a:rPr>
              <a:t>39s</a:t>
            </a:r>
          </a:p>
        </p:txBody>
      </p:sp>
      <p:sp>
        <p:nvSpPr>
          <p:cNvPr id="40" name="TextBox 39"/>
          <p:cNvSpPr txBox="1"/>
          <p:nvPr/>
        </p:nvSpPr>
        <p:spPr>
          <a:xfrm>
            <a:off x="685800" y="5943600"/>
            <a:ext cx="10820095" cy="274320"/>
          </a:xfrm>
          <a:prstGeom prst="rect">
            <a:avLst/>
          </a:prstGeom>
          <a:noFill/>
        </p:spPr>
        <p:txBody>
          <a:bodyPr wrap="square" lIns="0" rIns="0" tIns="0" bIns="0" anchor="t"/>
          <a:lstStyle/>
          <a:p>
            <a:pPr algn="l"/>
            <a:r>
              <a:rPr sz="950" b="0" i="0">
                <a:solidFill>
                  <a:srgbClr val="8A877F"/>
                </a:solidFill>
                <a:latin typeface="Arial"/>
                <a:ea typeface="Arial"/>
                <a:cs typeface="Arial"/>
              </a:rPr>
              <a:t>Real numbers from the running product — no projections, no seeded data.  Payments run through Stripe test mode during the hackathon.</a:t>
            </a:r>
          </a:p>
        </p:txBody>
      </p:sp>
      <p:sp>
        <p:nvSpPr>
          <p:cNvPr id="41" name="TextBox 40"/>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42" name="TextBox 41"/>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640080"/>
            <a:ext cx="8229600" cy="274320"/>
          </a:xfrm>
          <a:prstGeom prst="rect">
            <a:avLst/>
          </a:prstGeom>
          <a:noFill/>
        </p:spPr>
        <p:txBody>
          <a:bodyPr wrap="square" lIns="0" rIns="0" tIns="0" bIns="0" anchor="t"/>
          <a:lstStyle/>
          <a:p>
            <a:pPr algn="l"/>
            <a:r>
              <a:rPr sz="900" b="1" i="0" spc="280">
                <a:solidFill>
                  <a:srgbClr val="FF5B1F"/>
                </a:solidFill>
                <a:latin typeface="Arial"/>
                <a:ea typeface="Arial"/>
                <a:cs typeface="Arial"/>
              </a:rPr>
              <a:t>●  </a:t>
            </a:r>
            <a:r>
              <a:rPr sz="1100" b="1" i="0" spc="280">
                <a:solidFill>
                  <a:srgbClr val="FF5B1F"/>
                </a:solidFill>
                <a:latin typeface="Arial"/>
                <a:ea typeface="Arial"/>
                <a:cs typeface="Arial"/>
              </a:rPr>
              <a:t>THE VISION</a:t>
            </a:r>
          </a:p>
        </p:txBody>
      </p:sp>
      <p:sp>
        <p:nvSpPr>
          <p:cNvPr id="4" name="TextBox 3"/>
          <p:cNvSpPr txBox="1"/>
          <p:nvPr/>
        </p:nvSpPr>
        <p:spPr>
          <a:xfrm>
            <a:off x="685800" y="1097280"/>
            <a:ext cx="7589520" cy="2743200"/>
          </a:xfrm>
          <a:prstGeom prst="rect">
            <a:avLst/>
          </a:prstGeom>
          <a:noFill/>
        </p:spPr>
        <p:txBody>
          <a:bodyPr wrap="square" lIns="0" rIns="0" tIns="0" bIns="0" anchor="t"/>
          <a:lstStyle/>
          <a:p>
            <a:pPr algn="l">
              <a:lnSpc>
                <a:spcPct val="92000"/>
              </a:lnSpc>
            </a:pPr>
            <a:r>
              <a:rPr sz="6400" b="0" i="0">
                <a:solidFill>
                  <a:srgbClr val="F4F1EA"/>
                </a:solidFill>
                <a:latin typeface="Georgia"/>
                <a:ea typeface="Georgia"/>
                <a:cs typeface="Georgia"/>
              </a:rPr>
              <a:t>Every storefront</a:t>
            </a:r>
          </a:p>
          <a:p>
            <a:pPr algn="l">
              <a:lnSpc>
                <a:spcPct val="92000"/>
              </a:lnSpc>
            </a:pPr>
            <a:r>
              <a:rPr sz="6400" b="0" i="0">
                <a:solidFill>
                  <a:srgbClr val="F4F1EA"/>
                </a:solidFill>
                <a:latin typeface="Georgia"/>
                <a:ea typeface="Georgia"/>
                <a:cs typeface="Georgia"/>
              </a:rPr>
              <a:t>on Earth gets a</a:t>
            </a:r>
          </a:p>
          <a:p>
            <a:pPr algn="l">
              <a:lnSpc>
                <a:spcPct val="92000"/>
              </a:lnSpc>
            </a:pPr>
            <a:r>
              <a:rPr sz="6400" b="0" i="1">
                <a:solidFill>
                  <a:srgbClr val="FF5B1F"/>
                </a:solidFill>
                <a:latin typeface="Georgia"/>
                <a:ea typeface="Georgia"/>
                <a:cs typeface="Georgia"/>
              </a:rPr>
              <a:t>Cold Open</a:t>
            </a:r>
            <a:r>
              <a:rPr sz="6400" b="0" i="0">
                <a:solidFill>
                  <a:srgbClr val="F4F1EA"/>
                </a:solidFill>
                <a:latin typeface="Georgia"/>
                <a:ea typeface="Georgia"/>
                <a:cs typeface="Georgia"/>
              </a:rPr>
              <a:t>.</a:t>
            </a:r>
          </a:p>
        </p:txBody>
      </p:sp>
      <p:sp>
        <p:nvSpPr>
          <p:cNvPr id="5" name="TextBox 4"/>
          <p:cNvSpPr txBox="1"/>
          <p:nvPr/>
        </p:nvSpPr>
        <p:spPr>
          <a:xfrm>
            <a:off x="685800" y="3977639"/>
            <a:ext cx="7498079" cy="731520"/>
          </a:xfrm>
          <a:prstGeom prst="rect">
            <a:avLst/>
          </a:prstGeom>
          <a:noFill/>
        </p:spPr>
        <p:txBody>
          <a:bodyPr wrap="square" lIns="0" rIns="0" tIns="0" bIns="0" anchor="t"/>
          <a:lstStyle/>
          <a:p>
            <a:pPr algn="l">
              <a:lnSpc>
                <a:spcPct val="120000"/>
              </a:lnSpc>
            </a:pPr>
            <a:r>
              <a:rPr sz="1500" b="0" i="0">
                <a:solidFill>
                  <a:srgbClr val="8A877F"/>
                </a:solidFill>
                <a:latin typeface="Arial"/>
                <a:ea typeface="Arial"/>
                <a:cs typeface="Arial"/>
              </a:rPr>
              <a:t>The work, done before anyone asks. One click to claim it — or remove it.</a:t>
            </a:r>
          </a:p>
        </p:txBody>
      </p:sp>
      <p:sp>
        <p:nvSpPr>
          <p:cNvPr id="6" name="TextBox 5"/>
          <p:cNvSpPr txBox="1"/>
          <p:nvPr/>
        </p:nvSpPr>
        <p:spPr>
          <a:xfrm>
            <a:off x="685800" y="4846320"/>
            <a:ext cx="1737360" cy="365760"/>
          </a:xfrm>
          <a:prstGeom prst="rect">
            <a:avLst/>
          </a:prstGeom>
          <a:noFill/>
        </p:spPr>
        <p:txBody>
          <a:bodyPr wrap="square" lIns="0" rIns="0" tIns="0" bIns="0" anchor="ctr"/>
          <a:lstStyle/>
          <a:p>
            <a:pPr algn="l"/>
            <a:r>
              <a:rPr sz="1050" b="1" i="0" spc="200">
                <a:solidFill>
                  <a:srgbClr val="8A877F"/>
                </a:solidFill>
                <a:latin typeface="Arial"/>
                <a:ea typeface="Arial"/>
                <a:cs typeface="Arial"/>
              </a:rPr>
              <a:t>TRY IT LIVE</a:t>
            </a:r>
          </a:p>
        </p:txBody>
      </p:sp>
      <p:sp>
        <p:nvSpPr>
          <p:cNvPr id="7" name="TextBox 6"/>
          <p:cNvSpPr txBox="1"/>
          <p:nvPr/>
        </p:nvSpPr>
        <p:spPr>
          <a:xfrm>
            <a:off x="2468880" y="4846320"/>
            <a:ext cx="5486400" cy="365760"/>
          </a:xfrm>
          <a:prstGeom prst="rect">
            <a:avLst/>
          </a:prstGeom>
          <a:noFill/>
        </p:spPr>
        <p:txBody>
          <a:bodyPr wrap="square" lIns="0" rIns="0" tIns="0" bIns="0" anchor="ctr"/>
          <a:lstStyle/>
          <a:p>
            <a:pPr algn="l"/>
            <a:r>
              <a:rPr sz="1700" b="1" i="0">
                <a:solidFill>
                  <a:srgbClr val="FF5B1F"/>
                </a:solidFill>
                <a:latin typeface="Arial"/>
                <a:ea typeface="Arial"/>
                <a:cs typeface="Arial"/>
              </a:rPr>
              <a:t>coldopen.vnarasingamoorthy.workers.dev</a:t>
            </a:r>
          </a:p>
        </p:txBody>
      </p:sp>
      <p:sp>
        <p:nvSpPr>
          <p:cNvPr id="8" name="TextBox 7"/>
          <p:cNvSpPr txBox="1"/>
          <p:nvPr/>
        </p:nvSpPr>
        <p:spPr>
          <a:xfrm>
            <a:off x="685800" y="5321808"/>
            <a:ext cx="1737360" cy="365760"/>
          </a:xfrm>
          <a:prstGeom prst="rect">
            <a:avLst/>
          </a:prstGeom>
          <a:noFill/>
        </p:spPr>
        <p:txBody>
          <a:bodyPr wrap="square" lIns="0" rIns="0" tIns="0" bIns="0" anchor="ctr"/>
          <a:lstStyle/>
          <a:p>
            <a:pPr algn="l"/>
            <a:r>
              <a:rPr sz="1050" b="1" i="0" spc="200">
                <a:solidFill>
                  <a:srgbClr val="8A877F"/>
                </a:solidFill>
                <a:latin typeface="Arial"/>
                <a:ea typeface="Arial"/>
                <a:cs typeface="Arial"/>
              </a:rPr>
              <a:t>OPEN SOURCE</a:t>
            </a:r>
          </a:p>
        </p:txBody>
      </p:sp>
      <p:sp>
        <p:nvSpPr>
          <p:cNvPr id="9" name="TextBox 8"/>
          <p:cNvSpPr txBox="1"/>
          <p:nvPr/>
        </p:nvSpPr>
        <p:spPr>
          <a:xfrm>
            <a:off x="2468880" y="5321808"/>
            <a:ext cx="5486400" cy="365760"/>
          </a:xfrm>
          <a:prstGeom prst="rect">
            <a:avLst/>
          </a:prstGeom>
          <a:noFill/>
        </p:spPr>
        <p:txBody>
          <a:bodyPr wrap="square" lIns="0" rIns="0" tIns="0" bIns="0" anchor="ctr"/>
          <a:lstStyle/>
          <a:p>
            <a:pPr algn="l"/>
            <a:r>
              <a:rPr sz="1700" b="1" i="0">
                <a:solidFill>
                  <a:srgbClr val="F4F1EA"/>
                </a:solidFill>
                <a:latin typeface="Arial"/>
                <a:ea typeface="Arial"/>
                <a:cs typeface="Arial"/>
              </a:rPr>
              <a:t>github.com/vnmoorthy/coldopen</a:t>
            </a:r>
          </a:p>
        </p:txBody>
      </p:sp>
      <p:sp>
        <p:nvSpPr>
          <p:cNvPr id="10" name="TextBox 9"/>
          <p:cNvSpPr txBox="1"/>
          <p:nvPr/>
        </p:nvSpPr>
        <p:spPr>
          <a:xfrm>
            <a:off x="685800" y="5897880"/>
            <a:ext cx="7315200" cy="274320"/>
          </a:xfrm>
          <a:prstGeom prst="rect">
            <a:avLst/>
          </a:prstGeom>
          <a:noFill/>
        </p:spPr>
        <p:txBody>
          <a:bodyPr wrap="square" lIns="0" rIns="0" tIns="0" bIns="0" anchor="t"/>
          <a:lstStyle/>
          <a:p>
            <a:pPr algn="l"/>
            <a:r>
              <a:rPr sz="1000" b="0" i="0">
                <a:solidFill>
                  <a:srgbClr val="5E5C57"/>
                </a:solidFill>
                <a:latin typeface="Arial"/>
                <a:ea typeface="Arial"/>
                <a:cs typeface="Arial"/>
              </a:rPr>
              <a:t>Next: owner opt-in outreach · custom domains · Taste Labs scoring · video ads</a:t>
            </a:r>
          </a:p>
        </p:txBody>
      </p:sp>
      <p:sp>
        <p:nvSpPr>
          <p:cNvPr id="11" name="Rounded Rectangle 10"/>
          <p:cNvSpPr/>
          <p:nvPr/>
        </p:nvSpPr>
        <p:spPr>
          <a:xfrm>
            <a:off x="8321040" y="1005840"/>
            <a:ext cx="3429000" cy="3429000"/>
          </a:xfrm>
          <a:prstGeom prst="roundRect">
            <a:avLst>
              <a:gd name="adj" fmla="val 5866"/>
            </a:avLst>
          </a:prstGeom>
          <a:solidFill>
            <a:srgbClr val="F4F1EA"/>
          </a:solidFill>
          <a:ln>
            <a:noFill/>
          </a:ln>
        </p:spPr>
        <p:txBody>
          <a:bodyPr rtlCol="0" anchor="ctr"/>
          <a:lstStyle/>
          <a:p/>
        </p:txBody>
      </p:sp>
      <p:pic>
        <p:nvPicPr>
          <p:cNvPr id="12" name="Picture 11" descr="qr.png"/>
          <p:cNvPicPr>
            <a:picLocks noChangeAspect="1"/>
          </p:cNvPicPr>
          <p:nvPr/>
        </p:nvPicPr>
        <p:blipFill>
          <a:blip r:embed="rId3"/>
          <a:stretch>
            <a:fillRect/>
          </a:stretch>
        </p:blipFill>
        <p:spPr>
          <a:xfrm>
            <a:off x="8549640" y="1234440"/>
            <a:ext cx="2971800" cy="2971800"/>
          </a:xfrm>
          <a:prstGeom prst="rect">
            <a:avLst/>
          </a:prstGeom>
        </p:spPr>
      </p:pic>
      <p:sp>
        <p:nvSpPr>
          <p:cNvPr id="13" name="TextBox 12"/>
          <p:cNvSpPr txBox="1"/>
          <p:nvPr/>
        </p:nvSpPr>
        <p:spPr>
          <a:xfrm>
            <a:off x="8321040" y="4617720"/>
            <a:ext cx="3429000" cy="274320"/>
          </a:xfrm>
          <a:prstGeom prst="rect">
            <a:avLst/>
          </a:prstGeom>
          <a:noFill/>
        </p:spPr>
        <p:txBody>
          <a:bodyPr wrap="square" lIns="0" rIns="0" tIns="0" bIns="0" anchor="t"/>
          <a:lstStyle/>
          <a:p>
            <a:pPr algn="ctr"/>
            <a:r>
              <a:rPr sz="1200" b="1" i="0">
                <a:solidFill>
                  <a:srgbClr val="F4F1EA"/>
                </a:solidFill>
                <a:latin typeface="Arial"/>
                <a:ea typeface="Arial"/>
                <a:cs typeface="Arial"/>
              </a:rPr>
              <a:t>Scan — run the block yourself</a:t>
            </a:r>
          </a:p>
        </p:txBody>
      </p:sp>
      <p:sp>
        <p:nvSpPr>
          <p:cNvPr id="14" name="TextBox 13"/>
          <p:cNvSpPr txBox="1"/>
          <p:nvPr/>
        </p:nvSpPr>
        <p:spPr>
          <a:xfrm>
            <a:off x="8321040" y="4937759"/>
            <a:ext cx="3429000" cy="274320"/>
          </a:xfrm>
          <a:prstGeom prst="rect">
            <a:avLst/>
          </a:prstGeom>
          <a:noFill/>
        </p:spPr>
        <p:txBody>
          <a:bodyPr wrap="square" lIns="0" rIns="0" tIns="0" bIns="0" anchor="t"/>
          <a:lstStyle/>
          <a:p>
            <a:pPr algn="ctr"/>
            <a:r>
              <a:rPr sz="2000" b="0" i="1">
                <a:solidFill>
                  <a:srgbClr val="FF5B1F"/>
                </a:solidFill>
                <a:latin typeface="Georgia"/>
                <a:ea typeface="Georgia"/>
                <a:cs typeface="Georgia"/>
              </a:rPr>
              <a:t>Thank you.</a:t>
            </a:r>
          </a:p>
        </p:txBody>
      </p:sp>
      <p:sp>
        <p:nvSpPr>
          <p:cNvPr id="15" name="TextBox 14"/>
          <p:cNvSpPr txBox="1"/>
          <p:nvPr/>
        </p:nvSpPr>
        <p:spPr>
          <a:xfrm>
            <a:off x="685800" y="6382512"/>
            <a:ext cx="2743200" cy="228600"/>
          </a:xfrm>
          <a:prstGeom prst="rect">
            <a:avLst/>
          </a:prstGeom>
          <a:noFill/>
        </p:spPr>
        <p:txBody>
          <a:bodyPr wrap="square" lIns="0" rIns="0" tIns="0" bIns="0" anchor="t"/>
          <a:lstStyle/>
          <a:p>
            <a:pPr algn="l"/>
            <a:r>
              <a:rPr sz="900" b="1" i="0" spc="300">
                <a:solidFill>
                  <a:srgbClr val="5E5C57"/>
                </a:solidFill>
                <a:latin typeface="Arial"/>
                <a:ea typeface="Arial"/>
                <a:cs typeface="Arial"/>
              </a:rPr>
              <a:t>COLD OPEN</a:t>
            </a:r>
          </a:p>
        </p:txBody>
      </p:sp>
      <p:sp>
        <p:nvSpPr>
          <p:cNvPr id="16" name="TextBox 15"/>
          <p:cNvSpPr txBox="1"/>
          <p:nvPr/>
        </p:nvSpPr>
        <p:spPr>
          <a:xfrm>
            <a:off x="10408615" y="6382512"/>
            <a:ext cx="1097280" cy="228600"/>
          </a:xfrm>
          <a:prstGeom prst="rect">
            <a:avLst/>
          </a:prstGeom>
          <a:noFill/>
        </p:spPr>
        <p:txBody>
          <a:bodyPr wrap="square" lIns="0" rIns="0" tIns="0" bIns="0" anchor="t"/>
          <a:lstStyle/>
          <a:p>
            <a:pPr algn="r"/>
            <a:r>
              <a:rPr sz="900" b="0" i="0" spc="200">
                <a:solidFill>
                  <a:srgbClr val="5E5C57"/>
                </a:solidFill>
                <a:latin typeface="Arial"/>
                <a:ea typeface="Arial"/>
                <a:cs typeface="Arial"/>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Cold Open — the agency that does the work before the sale</dc:title>
  <dc:subject>Startup Speedrun Hackathon · Cloudflare HQ · Sep 28 2026</dc:subject>
  <dc:creator>Cold Open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